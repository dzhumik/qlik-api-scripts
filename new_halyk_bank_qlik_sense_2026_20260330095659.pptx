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00" r:id="rId3"/>
    <p:sldId id="281" r:id="rId4"/>
    <p:sldId id="276" r:id="rId5"/>
    <p:sldId id="257" r:id="rId6"/>
    <p:sldId id="258" r:id="rId7"/>
    <p:sldId id="317" r:id="rId8"/>
    <p:sldId id="291" r:id="rId9"/>
    <p:sldId id="327" r:id="rId10"/>
    <p:sldId id="264" r:id="rId11"/>
    <p:sldId id="326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9CC"/>
    <a:srgbClr val="009844"/>
    <a:srgbClr val="FAF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7"/>
    <p:restoredTop sz="80685"/>
  </p:normalViewPr>
  <p:slideViewPr>
    <p:cSldViewPr snapToGrid="0" snapToObjects="1">
      <p:cViewPr varScale="1">
        <p:scale>
          <a:sx n="100" d="100"/>
          <a:sy n="100" d="100"/>
        </p:scale>
        <p:origin x="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6"/>
          <c:y val="0.06"/>
          <c:w val="0.92"/>
          <c:h val="0.8"/>
        </c:manualLayout>
      </c:layout>
      <c:barChart>
        <c:barDir val="col"/>
        <c:grouping val="stacked"/>
        <c:varyColors val="1"/>
        <c:ser>
          <c:idx val="0"/>
          <c:order val="0"/>
          <c:tx>
            <c:v>Analyzer</c:v>
          </c:tx>
          <c:spPr>
            <a:solidFill>
              <a:srgbClr val="009844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0">
                    <a:solidFill>
                      <a:srgbClr val="FFFFFF"/>
                    </a:solidFill>
                    <a:latin typeface="Montserra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 (Фев)</c:v>
              </c:pt>
              <c:pt idx="3">
                <c:v>2024 (Июл)</c:v>
              </c:pt>
              <c:pt idx="4">
                <c:v>2026 (План)</c:v>
              </c:pt>
            </c:strLit>
          </c:cat>
          <c:val>
            <c:numLit>
              <c:formatCode>General</c:formatCode>
              <c:ptCount val="5"/>
              <c:pt idx="0">
                <c:v>215</c:v>
              </c:pt>
              <c:pt idx="1">
                <c:v>240</c:v>
              </c:pt>
              <c:pt idx="2">
                <c:v>463</c:v>
              </c:pt>
              <c:pt idx="3">
                <c:v>548</c:v>
              </c:pt>
              <c:pt idx="4">
                <c:v>793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797-034B-B821-6C04DB9DBDCD}"/>
            </c:ext>
          </c:extLst>
        </c:ser>
        <c:ser>
          <c:idx val="1"/>
          <c:order val="1"/>
          <c:tx>
            <c:v>Prof.</c:v>
          </c:tx>
          <c:spPr>
            <a:solidFill>
              <a:srgbClr val="02B9CC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0">
                    <a:solidFill>
                      <a:srgbClr val="FFFFFF"/>
                    </a:solidFill>
                    <a:latin typeface="Montserra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 (Фев)</c:v>
              </c:pt>
              <c:pt idx="3">
                <c:v>2024 (Июл)</c:v>
              </c:pt>
              <c:pt idx="4">
                <c:v>2026 (План)</c:v>
              </c:pt>
            </c:strLit>
          </c:cat>
          <c:val>
            <c:numLit>
              <c:formatCode>General</c:formatCode>
              <c:ptCount val="5"/>
              <c:pt idx="0">
                <c:v>59</c:v>
              </c:pt>
              <c:pt idx="1">
                <c:v>139</c:v>
              </c:pt>
              <c:pt idx="2">
                <c:v>186</c:v>
              </c:pt>
              <c:pt idx="3">
                <c:v>245</c:v>
              </c:pt>
              <c:pt idx="4">
                <c:v>250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797-034B-B821-6C04DB9DB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333333"/>
                </a:solidFill>
                <a:latin typeface="Montserra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99999"/>
                </a:solidFill>
                <a:latin typeface="Montserrat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36347982283464569"/>
          <c:y val="0.93243243243243246"/>
          <c:w val="0.24804035433070867"/>
          <c:h val="4.5568206001276867E-2"/>
        </c:manualLayout>
      </c:layout>
      <c:overlay val="0"/>
      <c:txPr>
        <a:bodyPr/>
        <a:lstStyle/>
        <a:p>
          <a:pPr>
            <a:defRPr sz="900">
              <a:solidFill>
                <a:srgbClr val="666666"/>
              </a:solidFill>
              <a:latin typeface="Montserrat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Professional Analyzer</c:v>
          </c:tx>
          <c:spPr>
            <a:ln w="25400">
              <a:solidFill>
                <a:srgbClr val="009844"/>
              </a:solidFill>
            </a:ln>
          </c:spPr>
          <c:marker>
            <c:symbol val="circle"/>
            <c:size val="6"/>
            <c:spPr>
              <a:solidFill>
                <a:srgbClr val="009844"/>
              </a:solidFill>
              <a:ln>
                <a:solidFill>
                  <a:srgbClr val="F5A62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50" b="1">
                    <a:solidFill>
                      <a:srgbClr val="009844"/>
                    </a:solidFill>
                    <a:latin typeface="Montserrat"/>
                    <a:cs typeface="Montserra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370</c:v>
              </c:pt>
              <c:pt idx="1">
                <c:v>363</c:v>
              </c:pt>
              <c:pt idx="2">
                <c:v>385</c:v>
              </c:pt>
              <c:pt idx="3">
                <c:v>411</c:v>
              </c:pt>
              <c:pt idx="4">
                <c:v>425</c:v>
              </c:pt>
              <c:pt idx="5">
                <c:v>411</c:v>
              </c:pt>
              <c:pt idx="6">
                <c:v>430</c:v>
              </c:pt>
              <c:pt idx="7">
                <c:v>442</c:v>
              </c:pt>
              <c:pt idx="8">
                <c:v>453</c:v>
              </c:pt>
              <c:pt idx="9">
                <c:v>468</c:v>
              </c:pt>
              <c:pt idx="10">
                <c:v>483</c:v>
              </c:pt>
              <c:pt idx="11">
                <c:v>475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BD4-0B43-BDE9-CECD4FCE7CD2}"/>
            </c:ext>
          </c:extLst>
        </c:ser>
        <c:ser>
          <c:idx val="1"/>
          <c:order val="1"/>
          <c:tx>
            <c:v>Analyzer</c:v>
          </c:tx>
          <c:spPr>
            <a:ln w="25400">
              <a:solidFill>
                <a:srgbClr val="02B9CC"/>
              </a:solidFill>
            </a:ln>
          </c:spPr>
          <c:marker>
            <c:symbol val="circle"/>
            <c:size val="6"/>
            <c:spPr>
              <a:solidFill>
                <a:srgbClr val="02B9CC"/>
              </a:solidFill>
              <a:ln>
                <a:solidFill>
                  <a:srgbClr val="02B9CC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50" b="1">
                    <a:solidFill>
                      <a:srgbClr val="02B9CC"/>
                    </a:solidFill>
                    <a:latin typeface="Montserrat"/>
                    <a:cs typeface="Montserra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201</c:v>
              </c:pt>
              <c:pt idx="1">
                <c:v>203</c:v>
              </c:pt>
              <c:pt idx="2">
                <c:v>203</c:v>
              </c:pt>
              <c:pt idx="3">
                <c:v>202</c:v>
              </c:pt>
              <c:pt idx="4">
                <c:v>209</c:v>
              </c:pt>
              <c:pt idx="5">
                <c:v>209</c:v>
              </c:pt>
              <c:pt idx="6">
                <c:v>224</c:v>
              </c:pt>
              <c:pt idx="7">
                <c:v>218</c:v>
              </c:pt>
              <c:pt idx="8">
                <c:v>231</c:v>
              </c:pt>
              <c:pt idx="9">
                <c:v>225</c:v>
              </c:pt>
              <c:pt idx="10">
                <c:v>237</c:v>
              </c:pt>
              <c:pt idx="11">
                <c:v>232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BD4-0B43-BDE9-CECD4FCE7CD2}"/>
            </c:ext>
          </c:extLst>
        </c:ser>
        <c:ser>
          <c:idx val="2"/>
          <c:order val="2"/>
          <c:tx>
            <c:v>Analyzer Capacity</c:v>
          </c:tx>
          <c:spPr>
            <a:ln w="19050">
              <a:solidFill>
                <a:srgbClr val="7ECFC0"/>
              </a:solidFill>
            </a:ln>
          </c:spPr>
          <c:marker>
            <c:symbol val="none"/>
          </c:marker>
          <c:cat>
            <c:strLit>
              <c:ptCount val="12"/>
              <c:pt idx="0">
                <c:v>Apr 2025</c:v>
              </c:pt>
              <c:pt idx="1">
                <c:v>May 2025</c:v>
              </c:pt>
              <c:pt idx="2">
                <c:v>Jun 2025</c:v>
              </c:pt>
              <c:pt idx="3">
                <c:v>Jul 2025</c:v>
              </c:pt>
              <c:pt idx="4">
                <c:v>Aug 2025</c:v>
              </c:pt>
              <c:pt idx="5">
                <c:v>Sep 2025</c:v>
              </c:pt>
              <c:pt idx="6">
                <c:v>Oct 2025</c:v>
              </c:pt>
              <c:pt idx="7">
                <c:v>Nov 2025</c:v>
              </c:pt>
              <c:pt idx="8">
                <c:v>Dec 2025</c:v>
              </c:pt>
              <c:pt idx="9">
                <c:v>Jan 2026</c:v>
              </c:pt>
              <c:pt idx="10">
                <c:v>Feb 2026</c:v>
              </c:pt>
              <c:pt idx="11">
                <c:v>Mar 2026</c:v>
              </c:pt>
            </c:strLit>
          </c:cat>
          <c:val>
            <c:numLit>
              <c:formatCode>General</c:formatCode>
              <c:ptCount val="12"/>
              <c:pt idx="0">
                <c:v>200</c:v>
              </c:pt>
              <c:pt idx="1">
                <c:v>200</c:v>
              </c:pt>
              <c:pt idx="2">
                <c:v>200</c:v>
              </c:pt>
              <c:pt idx="3">
                <c:v>200</c:v>
              </c:pt>
              <c:pt idx="4">
                <c:v>200</c:v>
              </c:pt>
              <c:pt idx="5">
                <c:v>200</c:v>
              </c:pt>
              <c:pt idx="6">
                <c:v>200</c:v>
              </c:pt>
              <c:pt idx="7">
                <c:v>200</c:v>
              </c:pt>
              <c:pt idx="8">
                <c:v>200</c:v>
              </c:pt>
              <c:pt idx="9">
                <c:v>200</c:v>
              </c:pt>
              <c:pt idx="10">
                <c:v>200</c:v>
              </c:pt>
              <c:pt idx="11">
                <c:v>200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BD4-0B43-BDE9-CECD4FCE7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BFBFBF"/>
            </a:solidFill>
          </a:ln>
        </c:spPr>
        <c:txPr>
          <a:bodyPr rot="-5400000" vert="horz"/>
          <a:lstStyle/>
          <a:p>
            <a:pPr>
              <a:defRPr sz="800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"/>
          <c:min val="0"/>
        </c:scaling>
        <c:delete val="0"/>
        <c:axPos val="l"/>
        <c:majorGridlines>
          <c:spPr>
            <a:ln w="3175">
              <a:solidFill>
                <a:srgbClr val="E8E8E8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Закуп/Продление</c:v>
          </c:tx>
          <c:spPr>
            <a:solidFill>
              <a:srgbClr val="43A047"/>
            </a:solidFill>
            <a:ln>
              <a:noFill/>
            </a:ln>
          </c:spPr>
          <c:invertIfNegative val="1"/>
          <c:dLbls>
            <c:dLbl>
              <c:idx val="0"/>
              <c:layout>
                <c:manualLayout>
                  <c:x val="5.5350553505534887E-3"/>
                  <c:y val="5.21885132005558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8DF-1749-BC6B-861C8CF16C3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F09-FC49-A440-2C0BA9568E74}"/>
                </c:ext>
              </c:extLst>
            </c:dLbl>
            <c:dLbl>
              <c:idx val="2"/>
              <c:layout>
                <c:manualLayout>
                  <c:x val="0"/>
                  <c:y val="-7.038906901343214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DF-1749-BC6B-861C8CF16C3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F09-FC49-A440-2C0BA9568E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F09-FC49-A440-2C0BA9568E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chemeClr val="tx1"/>
                    </a:solidFill>
                    <a:latin typeface="Montserra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</c:v>
              </c:pt>
              <c:pt idx="3">
                <c:v>2026</c:v>
              </c:pt>
              <c:pt idx="4">
                <c:v>2027</c:v>
              </c:pt>
            </c:strLit>
          </c:cat>
          <c:val>
            <c:numLit>
              <c:formatCode>General</c:formatCode>
              <c:ptCount val="5"/>
              <c:pt idx="0">
                <c:v>110</c:v>
              </c:pt>
              <c:pt idx="1">
                <c:v>0</c:v>
              </c:pt>
              <c:pt idx="2">
                <c:v>464</c:v>
              </c:pt>
              <c:pt idx="3">
                <c:v>0</c:v>
              </c:pt>
              <c:pt idx="4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6CD-464B-BD1C-3971B6BEC2FF}"/>
            </c:ext>
          </c:extLst>
        </c:ser>
        <c:ser>
          <c:idx val="1"/>
          <c:order val="1"/>
          <c:tx>
            <c:v>Докупка/Масштабирование</c:v>
          </c:tx>
          <c:spPr>
            <a:solidFill>
              <a:srgbClr val="7B1FA2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pattFill prst="wdUpDiag">
                <a:fgClr>
                  <a:schemeClr val="bg1">
                    <a:lumMod val="85000"/>
                  </a:schemeClr>
                </a:fgClr>
                <a:bgClr>
                  <a:schemeClr val="bg1">
                    <a:lumMod val="75000"/>
                  </a:schemeClr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8DF-1749-BC6B-861C8CF16C38}"/>
              </c:ext>
            </c:extLst>
          </c:dPt>
          <c:dPt>
            <c:idx val="4"/>
            <c:invertIfNegative val="1"/>
            <c:bubble3D val="0"/>
            <c:spPr>
              <a:pattFill prst="wdUpDiag">
                <a:fgClr>
                  <a:schemeClr val="bg1">
                    <a:lumMod val="85000"/>
                  </a:schemeClr>
                </a:fgClr>
                <a:bgClr>
                  <a:schemeClr val="bg1">
                    <a:lumMod val="75000"/>
                  </a:schemeClr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8DF-1749-BC6B-861C8CF16C38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09-FC49-A440-2C0BA9568E74}"/>
                </c:ext>
              </c:extLst>
            </c:dLbl>
            <c:dLbl>
              <c:idx val="1"/>
              <c:layout>
                <c:manualLayout>
                  <c:x val="-3.6900369003690036E-3"/>
                  <c:y val="1.0553960166743863E-2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791-464D-AC08-1902A1471D19}"/>
                </c:ext>
              </c:extLst>
            </c:dLbl>
            <c:dLbl>
              <c:idx val="2"/>
              <c:layout>
                <c:manualLayout>
                  <c:x val="-1.3529979001881025E-16"/>
                  <c:y val="6.723946271421955E-3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8DF-1749-BC6B-861C8CF16C38}"/>
                </c:ext>
              </c:extLst>
            </c:dLbl>
            <c:dLbl>
              <c:idx val="3"/>
              <c:layout>
                <c:manualLayout>
                  <c:x val="0"/>
                  <c:y val="5.2658638258451908E-3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8DF-1749-BC6B-861C8CF16C38}"/>
                </c:ext>
              </c:extLst>
            </c:dLbl>
            <c:dLbl>
              <c:idx val="4"/>
              <c:layout>
                <c:manualLayout>
                  <c:x val="0"/>
                  <c:y val="6.3615099583140345E-3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50" b="1">
                      <a:solidFill>
                        <a:schemeClr val="tx1"/>
                      </a:solidFill>
                      <a:latin typeface="Montserra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DF-1749-BC6B-861C8CF16C3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FFFFFF"/>
                    </a:solidFill>
                    <a:latin typeface="Montserra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</c:v>
              </c:pt>
              <c:pt idx="3">
                <c:v>2026</c:v>
              </c:pt>
              <c:pt idx="4">
                <c:v>2027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29</c:v>
              </c:pt>
              <c:pt idx="2">
                <c:v>26</c:v>
              </c:pt>
              <c:pt idx="3">
                <c:v>59</c:v>
              </c:pt>
              <c:pt idx="4">
                <c:v>614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6CD-464B-BD1C-3971B6BEC2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1">
                <a:solidFill>
                  <a:srgbClr val="555555"/>
                </a:solidFill>
                <a:latin typeface="Montserrat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>
          <c:spPr>
            <a:ln w="3175">
              <a:solidFill>
                <a:srgbClr val="EEEEEE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99999"/>
                </a:solidFill>
                <a:latin typeface="Montserrat"/>
              </a:defRPr>
            </a:pPr>
            <a:endParaRPr lang="ru-RU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2"/>
          <c:w val="0.92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Лицензии</c:v>
          </c:tx>
          <c:spPr>
            <a:solidFill>
              <a:srgbClr val="BFBFBF"/>
            </a:solidFill>
            <a:ln w="0">
              <a:noFill/>
            </a:ln>
          </c:spPr>
          <c:invertIfNegative val="0"/>
          <c:dPt>
            <c:idx val="3"/>
            <c:invertIfNegative val="0"/>
            <c:bubble3D val="0"/>
            <c:spPr>
              <a:pattFill prst="wdUpDiag">
                <a:fgClr>
                  <a:schemeClr val="bg1">
                    <a:lumMod val="75000"/>
                  </a:schemeClr>
                </a:fgClr>
                <a:bgClr>
                  <a:schemeClr val="bg1"/>
                </a:bgClr>
              </a:patt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982B-1549-AF5F-7D84E6FB8BFE}"/>
              </c:ext>
            </c:extLst>
          </c:dPt>
          <c:dPt>
            <c:idx val="4"/>
            <c:invertIfNegative val="0"/>
            <c:bubble3D val="0"/>
            <c:spPr>
              <a:pattFill prst="wdUpDiag">
                <a:fgClr>
                  <a:schemeClr val="bg1">
                    <a:lumMod val="65000"/>
                  </a:schemeClr>
                </a:fgClr>
                <a:bgClr>
                  <a:schemeClr val="bg1"/>
                </a:bgClr>
              </a:pattFill>
              <a:ln w="0">
                <a:solidFill>
                  <a:schemeClr val="bg1">
                    <a:lumMod val="75000"/>
                  </a:schemeClr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982B-1549-AF5F-7D84E6FB8BFE}"/>
              </c:ext>
            </c:extLst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333333"/>
                    </a:solidFill>
                    <a:latin typeface="Montserrat"/>
                    <a:cs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2023</c:v>
              </c:pt>
              <c:pt idx="2">
                <c:v>2024</c:v>
              </c:pt>
              <c:pt idx="3">
                <c:v>2026</c:v>
              </c:pt>
              <c:pt idx="4">
                <c:v>2027</c:v>
              </c:pt>
            </c:strLit>
          </c:cat>
          <c:val>
            <c:numLit>
              <c:formatCode>#,##0</c:formatCode>
              <c:ptCount val="5"/>
              <c:pt idx="0">
                <c:v>274</c:v>
              </c:pt>
              <c:pt idx="1">
                <c:v>379</c:v>
              </c:pt>
              <c:pt idx="2">
                <c:v>793</c:v>
              </c:pt>
              <c:pt idx="3">
                <c:v>1043</c:v>
              </c:pt>
              <c:pt idx="4">
                <c:v>1362</c:v>
              </c:pt>
            </c:numLit>
          </c:val>
          <c:extLst>
            <c:ext xmlns:c16="http://schemas.microsoft.com/office/drawing/2014/chart" uri="{C3380CC4-5D6E-409C-BE32-E72D297353CC}">
              <c16:uniqueId val="{00000004-982B-1549-AF5F-7D84E6FB8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D9D9D9"/>
            </a:solidFill>
          </a:ln>
        </c:spPr>
        <c:txPr>
          <a:bodyPr/>
          <a:lstStyle/>
          <a:p>
            <a:pPr>
              <a:defRPr sz="1100" b="1">
                <a:solidFill>
                  <a:srgbClr val="666666"/>
                </a:solidFill>
                <a:latin typeface="Montserrat"/>
                <a:cs typeface="Montserra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60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99999"/>
                </a:solidFill>
                <a:latin typeface="Montserrat"/>
                <a:cs typeface="Montserrat"/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94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2213-4491-92E5-BAAE-37847536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636CE-9EAD-C824-250F-520A624DC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50F0C-5B60-8661-D287-758FE791C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изменить </a:t>
            </a:r>
            <a:r>
              <a:rPr lang="ru-RU" dirty="0" err="1"/>
              <a:t>проф</a:t>
            </a:r>
            <a:r>
              <a:rPr lang="ru-RU" dirty="0"/>
              <a:t> и </a:t>
            </a:r>
            <a:r>
              <a:rPr lang="ru-RU" dirty="0" err="1"/>
              <a:t>аналайзе</a:t>
            </a:r>
            <a:r>
              <a:rPr lang="ru-RU" dirty="0"/>
              <a:t> 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C0A0A-089E-FD2A-57E0-87E02006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25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057729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chart" Target="../charts/chart1.xml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4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3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05902" y="571500"/>
            <a:ext cx="5715000" cy="5715000"/>
          </a:xfrm>
          <a:prstGeom prst="ellips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20049" y="1285646"/>
            <a:ext cx="4286707" cy="4286707"/>
          </a:xfrm>
          <a:prstGeom prst="ellipse">
            <a:avLst/>
          </a:prstGeom>
          <a:solidFill>
            <a:srgbClr val="F9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82305" y="1429207"/>
            <a:ext cx="190195" cy="190195"/>
          </a:xfrm>
          <a:prstGeom prst="ellipse">
            <a:avLst/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34395" y="5029200"/>
            <a:ext cx="114300" cy="114300"/>
          </a:xfrm>
          <a:prstGeom prst="ellipse">
            <a:avLst/>
          </a:prstGeom>
          <a:solidFill>
            <a:srgbClr val="00B9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480853" y="5790895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>
                    <a:alpha val="10000"/>
                  </a:srgb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3600" dirty="0">
              <a:latin typeface="Montserrat" pitchFamily="2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61695" y="1035101"/>
            <a:ext cx="7573061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Qlik Sense:</a:t>
            </a:r>
            <a:endParaRPr lang="en-US" sz="48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Текущая ситуация</a:t>
            </a:r>
            <a:endParaRPr lang="en-US" sz="48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и стратегия развития </a:t>
            </a:r>
            <a:endParaRPr lang="en-US" sz="4800" dirty="0">
              <a:latin typeface="Montserrat" pitchFamily="2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6E474C2-A585-267A-F7C8-8F3FFE797C56}"/>
              </a:ext>
            </a:extLst>
          </p:cNvPr>
          <p:cNvGrpSpPr/>
          <p:nvPr/>
        </p:nvGrpSpPr>
        <p:grpSpPr>
          <a:xfrm>
            <a:off x="952347" y="5086350"/>
            <a:ext cx="4126687" cy="845873"/>
            <a:chOff x="981151" y="4326941"/>
            <a:chExt cx="4126687" cy="845873"/>
          </a:xfrm>
        </p:grpSpPr>
        <p:sp>
          <p:nvSpPr>
            <p:cNvPr id="11" name="Text 9"/>
            <p:cNvSpPr txBox="1"/>
            <p:nvPr/>
          </p:nvSpPr>
          <p:spPr>
            <a:xfrm>
              <a:off x="981151" y="4326941"/>
              <a:ext cx="412668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Обзор текущих результатов использования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981151" y="4621323"/>
              <a:ext cx="309433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Сравнительный анализ BI-рынка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981151" y="4914953"/>
              <a:ext cx="4023360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Стратегический план развития платформы</a:t>
              </a:r>
              <a:endParaRPr lang="en-US" sz="1300" dirty="0">
                <a:latin typeface="Montserrat" pitchFamily="2" charset="0"/>
              </a:endParaRPr>
            </a:p>
          </p:txBody>
        </p:sp>
      </p:grpSp>
      <p:sp>
        <p:nvSpPr>
          <p:cNvPr id="14" name="Shape 12"/>
          <p:cNvSpPr/>
          <p:nvPr/>
        </p:nvSpPr>
        <p:spPr>
          <a:xfrm>
            <a:off x="761695" y="6099048"/>
            <a:ext cx="7619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2165" b="-2165"/>
          <a:stretch/>
        </p:blipFill>
        <p:spPr>
          <a:xfrm>
            <a:off x="2439969" y="6341646"/>
            <a:ext cx="9144" cy="2862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90564" y="6484925"/>
            <a:ext cx="36044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Департамент </a:t>
            </a:r>
            <a:r>
              <a:rPr lang="ru-RU" sz="10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технологических платформ данных 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52347" y="3055011"/>
            <a:ext cx="9189129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Ежегодный отчет для руководства Halyk Bank.</a:t>
            </a:r>
            <a:endParaRPr lang="en-US" sz="24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Анализ эффективности платформы бизнес-аналитики. </a:t>
            </a:r>
            <a:endParaRPr lang="en-US" sz="2400" dirty="0">
              <a:latin typeface="Montserrat" pitchFamily="2" charset="0"/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B8426D39-D0AA-447D-FF86-36AACD1D66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2" t="20754" r="53125" b="19492"/>
          <a:stretch>
            <a:fillRect/>
          </a:stretch>
        </p:blipFill>
        <p:spPr bwMode="auto">
          <a:xfrm rot="900000">
            <a:off x="9548666" y="2042917"/>
            <a:ext cx="2613916" cy="243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80456680-9CD4-BC1D-B93F-C08B4749B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36" y="6240086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2">
            <a:extLst>
              <a:ext uri="{FF2B5EF4-FFF2-40B4-BE49-F238E27FC236}">
                <a16:creationId xmlns:a16="http://schemas.microsoft.com/office/drawing/2014/main" id="{2C9F52DF-9701-BBE0-CE58-BC8D0DCCB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9" b="16094"/>
          <a:stretch>
            <a:fillRect/>
          </a:stretch>
        </p:blipFill>
        <p:spPr bwMode="auto">
          <a:xfrm>
            <a:off x="2449113" y="6192359"/>
            <a:ext cx="1188974" cy="47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6099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Рост лицензий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71500" y="1086307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Динамика использования с 2021 года и прогноз потребности на 2026 год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953098" y="1619401"/>
            <a:ext cx="4667098" cy="4102100"/>
          </a:xfrm>
          <a:prstGeom prst="roundRect">
            <a:avLst>
              <a:gd name="adj" fmla="val 48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144207" y="1809598"/>
            <a:ext cx="28346" cy="200254"/>
          </a:xfrm>
          <a:prstGeom prst="rect">
            <a:avLst/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7267651" y="1809598"/>
            <a:ext cx="42775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Потребность 2026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7144207" y="2381098"/>
            <a:ext cx="20574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+250</a:t>
            </a:r>
            <a:endParaRPr lang="en-US" sz="4800" dirty="0">
              <a:latin typeface="Montserrat" pitchFamily="2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7144207" y="3038551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Дополнительных</a:t>
            </a:r>
            <a:endParaRPr lang="en-US" sz="10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лицензий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144207" y="3514954"/>
            <a:ext cx="221284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* из них филиалы: 75 лицензий Analyzer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9144000" y="2000707"/>
            <a:ext cx="2286000" cy="19046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125528" y="4535523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 l="-9378" r="-9378"/>
          <a:stretch/>
        </p:blipFill>
        <p:spPr>
          <a:xfrm>
            <a:off x="7125528" y="4340756"/>
            <a:ext cx="152705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54128" y="4311494"/>
            <a:ext cx="19842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развития онлайн продаж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11019043" y="4306923"/>
            <a:ext cx="400507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1019043" y="4306923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+70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125528" y="4830875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 l="-16800" r="-16800"/>
          <a:stretch/>
        </p:blipFill>
        <p:spPr>
          <a:xfrm>
            <a:off x="7125528" y="4636107"/>
            <a:ext cx="152705" cy="1143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54128" y="4606847"/>
            <a:ext cx="16907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кредитных анализов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11018129" y="4602275"/>
            <a:ext cx="400507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11018129" y="4602275"/>
            <a:ext cx="4764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+50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7125528" y="5126225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rcRect l="-16800" r="-16800"/>
          <a:stretch/>
        </p:blipFill>
        <p:spPr>
          <a:xfrm>
            <a:off x="7125528" y="4931459"/>
            <a:ext cx="152705" cy="1143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354128" y="4902197"/>
            <a:ext cx="1543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кредитных рисков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11029102" y="4897625"/>
            <a:ext cx="390449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11029102" y="4897625"/>
            <a:ext cx="46725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+25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7125528" y="5421577"/>
            <a:ext cx="42867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 l="-3440" r="-3440"/>
          <a:stretch/>
        </p:blipFill>
        <p:spPr>
          <a:xfrm>
            <a:off x="7125528" y="5225895"/>
            <a:ext cx="152705" cy="1143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354128" y="5197549"/>
            <a:ext cx="19129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Деп. цифровых кредитных КЛ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10634995" y="5192977"/>
            <a:ext cx="371246" cy="181051"/>
          </a:xfrm>
          <a:prstGeom prst="roundRect">
            <a:avLst>
              <a:gd name="adj" fmla="val 159490"/>
            </a:avLst>
          </a:prstGeom>
          <a:solidFill>
            <a:srgbClr val="00B9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10634995" y="5192977"/>
            <a:ext cx="4480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+18 P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4" name="Shape 35"/>
          <p:cNvSpPr/>
          <p:nvPr/>
        </p:nvSpPr>
        <p:spPr>
          <a:xfrm>
            <a:off x="11076651" y="5192977"/>
            <a:ext cx="342900" cy="181051"/>
          </a:xfrm>
          <a:prstGeom prst="roundRect">
            <a:avLst>
              <a:gd name="adj" fmla="val 159490"/>
            </a:avLst>
          </a:prstGeom>
          <a:solidFill>
            <a:srgbClr val="009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11076651" y="5192977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+8 A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9716479" y="4309038"/>
            <a:ext cx="110368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98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Филиальная сеть</a:t>
            </a:r>
            <a:endParaRPr lang="en-US" sz="900" dirty="0">
              <a:solidFill>
                <a:srgbClr val="009844"/>
              </a:solidFill>
              <a:latin typeface="Montserrat" pitchFamily="2" charset="0"/>
            </a:endParaRPr>
          </a:p>
        </p:txBody>
      </p:sp>
      <p:sp>
        <p:nvSpPr>
          <p:cNvPr id="52" name="Text 42"/>
          <p:cNvSpPr txBox="1"/>
          <p:nvPr/>
        </p:nvSpPr>
        <p:spPr>
          <a:xfrm>
            <a:off x="571500" y="6381598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3" name="Text 43"/>
          <p:cNvSpPr txBox="1"/>
          <p:nvPr/>
        </p:nvSpPr>
        <p:spPr>
          <a:xfrm>
            <a:off x="9639605" y="6381598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7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33877C23-74E1-9A8F-3BDD-2DEEB9096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892811044"/>
              </p:ext>
            </p:extLst>
          </p:nvPr>
        </p:nvGraphicFramePr>
        <p:xfrm>
          <a:off x="571500" y="1625600"/>
          <a:ext cx="6096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00" name="Annotation 300"/>
          <p:cNvSpPr txBox="1"/>
          <p:nvPr/>
        </p:nvSpPr>
        <p:spPr>
          <a:xfrm>
            <a:off x="581163" y="1410004"/>
            <a:ext cx="28067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ru-RU" sz="1000" b="1" dirty="0">
                <a:solidFill>
                  <a:srgbClr val="000000"/>
                </a:solidFill>
                <a:latin typeface="Montserrat"/>
              </a:rPr>
              <a:t>Динамика роста пользователей</a:t>
            </a:r>
          </a:p>
        </p:txBody>
      </p:sp>
      <p:sp>
        <p:nvSpPr>
          <p:cNvPr id="301" name="Annotation 301"/>
          <p:cNvSpPr txBox="1"/>
          <p:nvPr/>
        </p:nvSpPr>
        <p:spPr>
          <a:xfrm>
            <a:off x="1029528" y="4481932"/>
            <a:ext cx="1079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274</a:t>
            </a:r>
          </a:p>
        </p:txBody>
      </p:sp>
      <p:sp>
        <p:nvSpPr>
          <p:cNvPr id="302" name="Annotation 302"/>
          <p:cNvSpPr txBox="1"/>
          <p:nvPr/>
        </p:nvSpPr>
        <p:spPr>
          <a:xfrm>
            <a:off x="2135532" y="3797605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+38%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379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(+105)</a:t>
            </a:r>
          </a:p>
        </p:txBody>
      </p:sp>
      <p:sp>
        <p:nvSpPr>
          <p:cNvPr id="303" name="Annotation 303"/>
          <p:cNvSpPr txBox="1"/>
          <p:nvPr/>
        </p:nvSpPr>
        <p:spPr>
          <a:xfrm>
            <a:off x="3317875" y="2930754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+71%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649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(+270)</a:t>
            </a:r>
          </a:p>
        </p:txBody>
      </p:sp>
      <p:sp>
        <p:nvSpPr>
          <p:cNvPr id="304" name="Annotation 304"/>
          <p:cNvSpPr txBox="1"/>
          <p:nvPr/>
        </p:nvSpPr>
        <p:spPr>
          <a:xfrm>
            <a:off x="4397375" y="2517850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+22%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793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(+144)</a:t>
            </a:r>
          </a:p>
        </p:txBody>
      </p:sp>
      <p:sp>
        <p:nvSpPr>
          <p:cNvPr id="305" name="Annotation 305"/>
          <p:cNvSpPr txBox="1"/>
          <p:nvPr/>
        </p:nvSpPr>
        <p:spPr>
          <a:xfrm>
            <a:off x="5509006" y="1777407"/>
            <a:ext cx="10795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/>
              </a:rPr>
              <a:t>+32%</a:t>
            </a:r>
          </a:p>
          <a:p>
            <a:pPr algn="ctr">
              <a:buNone/>
            </a:pPr>
            <a:r>
              <a:rPr lang="en-US" sz="900" b="1" dirty="0">
                <a:solidFill>
                  <a:srgbClr val="333333"/>
                </a:solidFill>
                <a:latin typeface="Montserrat"/>
              </a:rPr>
              <a:t>Total: 1043</a:t>
            </a:r>
          </a:p>
          <a:p>
            <a:pPr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/>
              </a:rPr>
              <a:t>(+250)</a:t>
            </a:r>
          </a:p>
        </p:txBody>
      </p:sp>
      <p:sp>
        <p:nvSpPr>
          <p:cNvPr id="2" name="Text 39">
            <a:extLst>
              <a:ext uri="{FF2B5EF4-FFF2-40B4-BE49-F238E27FC236}">
                <a16:creationId xmlns:a16="http://schemas.microsoft.com/office/drawing/2014/main" id="{16240CF0-C81F-CEAF-7E81-CAB5740E129D}"/>
              </a:ext>
            </a:extLst>
          </p:cNvPr>
          <p:cNvSpPr txBox="1"/>
          <p:nvPr/>
        </p:nvSpPr>
        <p:spPr>
          <a:xfrm>
            <a:off x="9716479" y="4610505"/>
            <a:ext cx="110368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98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Филиальная сеть</a:t>
            </a:r>
            <a:endParaRPr lang="en-US" sz="900" dirty="0">
              <a:solidFill>
                <a:srgbClr val="009844"/>
              </a:solidFill>
              <a:latin typeface="Montserrat" pitchFamily="2" charset="0"/>
            </a:endParaRPr>
          </a:p>
        </p:txBody>
      </p:sp>
      <p:sp>
        <p:nvSpPr>
          <p:cNvPr id="500" name="Divider Line"/>
          <p:cNvSpPr/>
          <p:nvPr/>
        </p:nvSpPr>
        <p:spPr>
          <a:xfrm>
            <a:off x="7150100" y="3911600"/>
            <a:ext cx="4292600" cy="12700"/>
          </a:xfrm>
          <a:prstGeom prst="rect">
            <a:avLst/>
          </a:prstGeom>
          <a:solidFill>
            <a:srgbClr val="E0E0E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Sub Header"/>
          <p:cNvSpPr txBox="1"/>
          <p:nvPr/>
        </p:nvSpPr>
        <p:spPr>
          <a:xfrm>
            <a:off x="7126036" y="4036262"/>
            <a:ext cx="4292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900" b="1" kern="0" spc="38" dirty="0">
                <a:latin typeface="Montserrat" pitchFamily="2" charset="0"/>
                <a:ea typeface="Montserrat" pitchFamily="34" charset="-122"/>
                <a:cs typeface="Montserrat" pitchFamily="34" charset="-120"/>
              </a:rPr>
              <a:t>ТОП-4 </a:t>
            </a:r>
            <a:r>
              <a:rPr lang="en-US" sz="900" b="1" kern="0" spc="38" dirty="0" err="1"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Департамента</a:t>
            </a:r>
            <a:endParaRPr lang="en-US" sz="900" b="1" kern="0" spc="38" dirty="0">
              <a:latin typeface="Montserrat" pitchFamily="2" charset="0"/>
              <a:ea typeface="Montserrat" pitchFamily="34" charset="-122"/>
              <a:cs typeface="Montserra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224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571500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Использование лицензий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571500" y="1000354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Текущее состояние распределения лицензий в банке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571500" y="64766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4" name="Text 25"/>
          <p:cNvSpPr txBox="1"/>
          <p:nvPr/>
        </p:nvSpPr>
        <p:spPr>
          <a:xfrm>
            <a:off x="10370210" y="6476695"/>
            <a:ext cx="12508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15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0E9A62FF-71CE-449C-9ACD-B8D686977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RowBg0"/>
          <p:cNvSpPr/>
          <p:nvPr/>
        </p:nvSpPr>
        <p:spPr>
          <a:xfrm>
            <a:off x="571500" y="1397000"/>
            <a:ext cx="11049000" cy="1524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  <a:alpha val="30000"/>
            </a:schemeClr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Label0"/>
          <p:cNvSpPr/>
          <p:nvPr/>
        </p:nvSpPr>
        <p:spPr>
          <a:xfrm>
            <a:off x="723900" y="1498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Montserrat"/>
                <a:cs typeface="Montserrat"/>
              </a:rPr>
              <a:t>ОБЩЕЕ</a:t>
            </a:r>
          </a:p>
        </p:txBody>
      </p:sp>
      <p:sp>
        <p:nvSpPr>
          <p:cNvPr id="102" name="KpiTitle0_0"/>
          <p:cNvSpPr/>
          <p:nvPr/>
        </p:nvSpPr>
        <p:spPr>
          <a:xfrm>
            <a:off x="7239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Кол-во лицензий</a:t>
            </a:r>
          </a:p>
        </p:txBody>
      </p:sp>
      <p:sp>
        <p:nvSpPr>
          <p:cNvPr id="103" name="KpiVal0_0"/>
          <p:cNvSpPr/>
          <p:nvPr/>
        </p:nvSpPr>
        <p:spPr>
          <a:xfrm>
            <a:off x="7239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845"/>
                </a:solidFill>
                <a:latin typeface="Montserrat"/>
                <a:cs typeface="Montserrat"/>
              </a:rPr>
              <a:t>793</a:t>
            </a:r>
          </a:p>
        </p:txBody>
      </p:sp>
      <p:sp>
        <p:nvSpPr>
          <p:cNvPr id="104" name="KpiTitle0_1"/>
          <p:cNvSpPr/>
          <p:nvPr/>
        </p:nvSpPr>
        <p:spPr>
          <a:xfrm>
            <a:off x="34544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Распределённые</a:t>
            </a:r>
          </a:p>
        </p:txBody>
      </p:sp>
      <p:sp>
        <p:nvSpPr>
          <p:cNvPr id="105" name="KpiVal0_1"/>
          <p:cNvSpPr/>
          <p:nvPr/>
        </p:nvSpPr>
        <p:spPr>
          <a:xfrm>
            <a:off x="34544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Montserrat"/>
                <a:cs typeface="Montserrat"/>
              </a:rPr>
              <a:t>777</a:t>
            </a:r>
          </a:p>
        </p:txBody>
      </p:sp>
      <p:sp>
        <p:nvSpPr>
          <p:cNvPr id="106" name="KpiTitle0_2"/>
          <p:cNvSpPr/>
          <p:nvPr/>
        </p:nvSpPr>
        <p:spPr>
          <a:xfrm>
            <a:off x="61849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Свободные</a:t>
            </a:r>
          </a:p>
        </p:txBody>
      </p:sp>
      <p:sp>
        <p:nvSpPr>
          <p:cNvPr id="107" name="KpiVal0_2"/>
          <p:cNvSpPr/>
          <p:nvPr/>
        </p:nvSpPr>
        <p:spPr>
          <a:xfrm>
            <a:off x="61849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cs typeface="Montserrat"/>
              </a:rPr>
              <a:t>16</a:t>
            </a:r>
          </a:p>
        </p:txBody>
      </p:sp>
      <p:sp>
        <p:nvSpPr>
          <p:cNvPr id="108" name="KpiTitle0_3"/>
          <p:cNvSpPr/>
          <p:nvPr/>
        </p:nvSpPr>
        <p:spPr>
          <a:xfrm>
            <a:off x="8915400" y="1778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% распределения</a:t>
            </a:r>
          </a:p>
        </p:txBody>
      </p:sp>
      <p:sp>
        <p:nvSpPr>
          <p:cNvPr id="109" name="KpiVal0_3"/>
          <p:cNvSpPr/>
          <p:nvPr/>
        </p:nvSpPr>
        <p:spPr>
          <a:xfrm>
            <a:off x="8915400" y="2032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98%</a:t>
            </a:r>
          </a:p>
        </p:txBody>
      </p:sp>
      <p:sp>
        <p:nvSpPr>
          <p:cNvPr id="110" name="BarBg0"/>
          <p:cNvSpPr/>
          <p:nvPr/>
        </p:nvSpPr>
        <p:spPr>
          <a:xfrm>
            <a:off x="723900" y="2641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0098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BarFill0"/>
          <p:cNvSpPr/>
          <p:nvPr/>
        </p:nvSpPr>
        <p:spPr>
          <a:xfrm>
            <a:off x="723900" y="2641600"/>
            <a:ext cx="10529316" cy="1524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RowBg1"/>
          <p:cNvSpPr/>
          <p:nvPr/>
        </p:nvSpPr>
        <p:spPr>
          <a:xfrm>
            <a:off x="571500" y="3048000"/>
            <a:ext cx="11049000" cy="1524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  <a:alpha val="30229"/>
            </a:schemeClr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Label1"/>
          <p:cNvSpPr/>
          <p:nvPr/>
        </p:nvSpPr>
        <p:spPr>
          <a:xfrm>
            <a:off x="723900" y="3149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844"/>
                </a:solidFill>
                <a:latin typeface="Montserrat"/>
                <a:cs typeface="Montserrat"/>
              </a:rPr>
              <a:t>ANALYZER</a:t>
            </a:r>
          </a:p>
        </p:txBody>
      </p:sp>
      <p:sp>
        <p:nvSpPr>
          <p:cNvPr id="114" name="KpiTitle1_0"/>
          <p:cNvSpPr/>
          <p:nvPr/>
        </p:nvSpPr>
        <p:spPr>
          <a:xfrm>
            <a:off x="7239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Кол-во лицензий</a:t>
            </a:r>
          </a:p>
        </p:txBody>
      </p:sp>
      <p:sp>
        <p:nvSpPr>
          <p:cNvPr id="115" name="KpiVal1_0"/>
          <p:cNvSpPr/>
          <p:nvPr/>
        </p:nvSpPr>
        <p:spPr>
          <a:xfrm>
            <a:off x="7239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845"/>
                </a:solidFill>
                <a:latin typeface="Montserrat"/>
                <a:cs typeface="Montserrat"/>
              </a:rPr>
              <a:t>548</a:t>
            </a:r>
          </a:p>
        </p:txBody>
      </p:sp>
      <p:sp>
        <p:nvSpPr>
          <p:cNvPr id="116" name="KpiTitle1_1"/>
          <p:cNvSpPr/>
          <p:nvPr/>
        </p:nvSpPr>
        <p:spPr>
          <a:xfrm>
            <a:off x="34544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Распределённые</a:t>
            </a:r>
          </a:p>
        </p:txBody>
      </p:sp>
      <p:sp>
        <p:nvSpPr>
          <p:cNvPr id="117" name="KpiVal1_1"/>
          <p:cNvSpPr/>
          <p:nvPr/>
        </p:nvSpPr>
        <p:spPr>
          <a:xfrm>
            <a:off x="34544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Montserrat"/>
                <a:cs typeface="Montserrat"/>
              </a:rPr>
              <a:t>532</a:t>
            </a:r>
          </a:p>
        </p:txBody>
      </p:sp>
      <p:sp>
        <p:nvSpPr>
          <p:cNvPr id="118" name="KpiTitle1_2"/>
          <p:cNvSpPr/>
          <p:nvPr/>
        </p:nvSpPr>
        <p:spPr>
          <a:xfrm>
            <a:off x="61849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Доступных</a:t>
            </a:r>
          </a:p>
        </p:txBody>
      </p:sp>
      <p:sp>
        <p:nvSpPr>
          <p:cNvPr id="119" name="KpiVal1_2"/>
          <p:cNvSpPr/>
          <p:nvPr/>
        </p:nvSpPr>
        <p:spPr>
          <a:xfrm>
            <a:off x="61849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cs typeface="Montserrat"/>
              </a:rPr>
              <a:t>16</a:t>
            </a:r>
          </a:p>
        </p:txBody>
      </p:sp>
      <p:sp>
        <p:nvSpPr>
          <p:cNvPr id="120" name="KpiTitle1_3"/>
          <p:cNvSpPr/>
          <p:nvPr/>
        </p:nvSpPr>
        <p:spPr>
          <a:xfrm>
            <a:off x="8915400" y="3429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% распределения</a:t>
            </a:r>
          </a:p>
        </p:txBody>
      </p:sp>
      <p:sp>
        <p:nvSpPr>
          <p:cNvPr id="121" name="KpiVal1_3"/>
          <p:cNvSpPr/>
          <p:nvPr/>
        </p:nvSpPr>
        <p:spPr>
          <a:xfrm>
            <a:off x="8915400" y="3683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97%</a:t>
            </a:r>
          </a:p>
        </p:txBody>
      </p:sp>
      <p:sp>
        <p:nvSpPr>
          <p:cNvPr id="122" name="BarBg1"/>
          <p:cNvSpPr/>
          <p:nvPr/>
        </p:nvSpPr>
        <p:spPr>
          <a:xfrm>
            <a:off x="723900" y="4292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0098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BarFill1"/>
          <p:cNvSpPr/>
          <p:nvPr/>
        </p:nvSpPr>
        <p:spPr>
          <a:xfrm>
            <a:off x="723900" y="4292600"/>
            <a:ext cx="10421874" cy="1524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RowBg2"/>
          <p:cNvSpPr/>
          <p:nvPr/>
        </p:nvSpPr>
        <p:spPr>
          <a:xfrm>
            <a:off x="571500" y="4699000"/>
            <a:ext cx="11049000" cy="15240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  <a:alpha val="30000"/>
            </a:schemeClr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Label2"/>
          <p:cNvSpPr/>
          <p:nvPr/>
        </p:nvSpPr>
        <p:spPr>
          <a:xfrm>
            <a:off x="723900" y="480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B9CC"/>
                </a:solidFill>
                <a:latin typeface="Montserrat"/>
                <a:cs typeface="Montserrat"/>
              </a:rPr>
              <a:t>PROFESSIONAL</a:t>
            </a:r>
          </a:p>
        </p:txBody>
      </p:sp>
      <p:sp>
        <p:nvSpPr>
          <p:cNvPr id="126" name="KpiTitle2_0"/>
          <p:cNvSpPr/>
          <p:nvPr/>
        </p:nvSpPr>
        <p:spPr>
          <a:xfrm>
            <a:off x="7239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Кол-во лицензий</a:t>
            </a:r>
          </a:p>
        </p:txBody>
      </p:sp>
      <p:sp>
        <p:nvSpPr>
          <p:cNvPr id="127" name="KpiVal2_0"/>
          <p:cNvSpPr/>
          <p:nvPr/>
        </p:nvSpPr>
        <p:spPr>
          <a:xfrm>
            <a:off x="7239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845"/>
                </a:solidFill>
                <a:latin typeface="Montserrat"/>
                <a:cs typeface="Montserrat"/>
              </a:rPr>
              <a:t>245</a:t>
            </a:r>
          </a:p>
        </p:txBody>
      </p:sp>
      <p:sp>
        <p:nvSpPr>
          <p:cNvPr id="128" name="KpiTitle2_1"/>
          <p:cNvSpPr/>
          <p:nvPr/>
        </p:nvSpPr>
        <p:spPr>
          <a:xfrm>
            <a:off x="34544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Распределённые</a:t>
            </a:r>
          </a:p>
        </p:txBody>
      </p:sp>
      <p:sp>
        <p:nvSpPr>
          <p:cNvPr id="129" name="KpiVal2_1"/>
          <p:cNvSpPr/>
          <p:nvPr/>
        </p:nvSpPr>
        <p:spPr>
          <a:xfrm>
            <a:off x="34544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Montserrat"/>
                <a:cs typeface="Montserrat"/>
              </a:rPr>
              <a:t>245</a:t>
            </a:r>
          </a:p>
        </p:txBody>
      </p:sp>
      <p:sp>
        <p:nvSpPr>
          <p:cNvPr id="130" name="KpiTitle2_2"/>
          <p:cNvSpPr/>
          <p:nvPr/>
        </p:nvSpPr>
        <p:spPr>
          <a:xfrm>
            <a:off x="61849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Доступных</a:t>
            </a:r>
          </a:p>
        </p:txBody>
      </p:sp>
      <p:sp>
        <p:nvSpPr>
          <p:cNvPr id="131" name="KpiVal2_2"/>
          <p:cNvSpPr/>
          <p:nvPr/>
        </p:nvSpPr>
        <p:spPr>
          <a:xfrm>
            <a:off x="61849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0</a:t>
            </a:r>
          </a:p>
        </p:txBody>
      </p:sp>
      <p:sp>
        <p:nvSpPr>
          <p:cNvPr id="132" name="KpiTitle2_3"/>
          <p:cNvSpPr/>
          <p:nvPr/>
        </p:nvSpPr>
        <p:spPr>
          <a:xfrm>
            <a:off x="8915400" y="50800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ontserrat"/>
                <a:cs typeface="Montserrat"/>
              </a:rPr>
              <a:t>% распределения</a:t>
            </a:r>
          </a:p>
        </p:txBody>
      </p:sp>
      <p:sp>
        <p:nvSpPr>
          <p:cNvPr id="133" name="KpiVal2_3"/>
          <p:cNvSpPr/>
          <p:nvPr/>
        </p:nvSpPr>
        <p:spPr>
          <a:xfrm>
            <a:off x="8915400" y="53340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Montserrat"/>
                <a:cs typeface="Montserrat"/>
              </a:rPr>
              <a:t>100%</a:t>
            </a:r>
          </a:p>
        </p:txBody>
      </p:sp>
      <p:sp>
        <p:nvSpPr>
          <p:cNvPr id="134" name="BarBg2"/>
          <p:cNvSpPr/>
          <p:nvPr/>
        </p:nvSpPr>
        <p:spPr>
          <a:xfrm>
            <a:off x="723900" y="5943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BarFill2"/>
          <p:cNvSpPr/>
          <p:nvPr/>
        </p:nvSpPr>
        <p:spPr>
          <a:xfrm>
            <a:off x="723900" y="5943600"/>
            <a:ext cx="10744200" cy="1524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0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3106-11E6-2B16-8D05-6D1465BE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2593CED-8AA3-5E48-07A2-762F9F806A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6859772-E607-B741-3DE4-7A24BEC5BB2B}"/>
              </a:ext>
            </a:extLst>
          </p:cNvPr>
          <p:cNvSpPr/>
          <p:nvPr/>
        </p:nvSpPr>
        <p:spPr>
          <a:xfrm>
            <a:off x="571500" y="1904695"/>
            <a:ext cx="7067398" cy="4304995"/>
          </a:xfrm>
          <a:prstGeom prst="roundRect">
            <a:avLst>
              <a:gd name="adj" fmla="val 3375"/>
            </a:avLst>
          </a:prstGeom>
          <a:solidFill>
            <a:srgbClr val="FFFFFF"/>
          </a:solidFill>
          <a:ln w="12700">
            <a:solidFill>
              <a:schemeClr val="tx1">
                <a:alpha val="7268"/>
              </a:scheme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B983AB7-ECE6-8568-33CB-FCDE1BA011A1}"/>
              </a:ext>
            </a:extLst>
          </p:cNvPr>
          <p:cNvSpPr txBox="1"/>
          <p:nvPr/>
        </p:nvSpPr>
        <p:spPr>
          <a:xfrm>
            <a:off x="571500" y="571500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Утилизация лицензий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E2FBEB0-5458-A368-0D44-E5AA4A244B5A}"/>
              </a:ext>
            </a:extLst>
          </p:cNvPr>
          <p:cNvSpPr txBox="1"/>
          <p:nvPr/>
        </p:nvSpPr>
        <p:spPr>
          <a:xfrm>
            <a:off x="571500" y="1000354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Использование лицензий по месяцам (апр 2025 — мар 2026)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FF45774-0F45-E9DD-C55F-7FE0C65DDA55}"/>
              </a:ext>
            </a:extLst>
          </p:cNvPr>
          <p:cNvSpPr/>
          <p:nvPr/>
        </p:nvSpPr>
        <p:spPr>
          <a:xfrm>
            <a:off x="571500" y="1524305"/>
            <a:ext cx="28346" cy="171907"/>
          </a:xfrm>
          <a:prstGeom prst="rect">
            <a:avLst/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897B563-B74E-3B93-173A-CD88A4DAFDC8}"/>
              </a:ext>
            </a:extLst>
          </p:cNvPr>
          <p:cNvSpPr txBox="1"/>
          <p:nvPr/>
        </p:nvSpPr>
        <p:spPr>
          <a:xfrm>
            <a:off x="694944" y="1524305"/>
            <a:ext cx="28483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ДИНАМИКА ИСПОЛЬЗОВАНИЯ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EE378C2-0727-AC89-65C1-342BD0B56254}"/>
              </a:ext>
            </a:extLst>
          </p:cNvPr>
          <p:cNvSpPr/>
          <p:nvPr/>
        </p:nvSpPr>
        <p:spPr>
          <a:xfrm>
            <a:off x="5939254" y="1609344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02B9CC"/>
          </a:solidFill>
          <a:ln w="12700">
            <a:noFill/>
            <a:prstDash val="solid"/>
          </a:ln>
        </p:spPr>
        <p:txBody>
          <a:bodyPr/>
          <a:lstStyle/>
          <a:p>
            <a:endParaRPr lang="ru-KZ" sz="240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F613E77-A262-8B4A-4917-1D094339E723}"/>
              </a:ext>
            </a:extLst>
          </p:cNvPr>
          <p:cNvSpPr txBox="1"/>
          <p:nvPr/>
        </p:nvSpPr>
        <p:spPr>
          <a:xfrm>
            <a:off x="6169688" y="1585571"/>
            <a:ext cx="408506" cy="16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Prof. 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0125B03-A639-C03B-BAE7-0894F3B4CB12}"/>
              </a:ext>
            </a:extLst>
          </p:cNvPr>
          <p:cNvSpPr/>
          <p:nvPr/>
        </p:nvSpPr>
        <p:spPr>
          <a:xfrm>
            <a:off x="6686093" y="1609344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009845"/>
          </a:solidFill>
          <a:ln w="12700">
            <a:noFill/>
            <a:prstDash val="solid"/>
          </a:ln>
        </p:spPr>
        <p:txBody>
          <a:bodyPr/>
          <a:lstStyle/>
          <a:p>
            <a:endParaRPr lang="ru-KZ" sz="2400">
              <a:latin typeface="Montserrat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8EBF86F-7304-0BEC-A480-9854CB17A270}"/>
              </a:ext>
            </a:extLst>
          </p:cNvPr>
          <p:cNvSpPr txBox="1"/>
          <p:nvPr/>
        </p:nvSpPr>
        <p:spPr>
          <a:xfrm>
            <a:off x="6857086" y="1585570"/>
            <a:ext cx="8540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Analyzer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7A114A4-39DC-BE6B-C6DB-99C5545CBF70}"/>
              </a:ext>
            </a:extLst>
          </p:cNvPr>
          <p:cNvSpPr txBox="1"/>
          <p:nvPr/>
        </p:nvSpPr>
        <p:spPr>
          <a:xfrm>
            <a:off x="8191195" y="2190902"/>
            <a:ext cx="3258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КЛЮЧЕВЫЕ ВЫВОДЫ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DFC47B4-FD6F-D4A9-A7D0-EB5841DCFDEC}"/>
              </a:ext>
            </a:extLst>
          </p:cNvPr>
          <p:cNvSpPr txBox="1"/>
          <p:nvPr/>
        </p:nvSpPr>
        <p:spPr>
          <a:xfrm>
            <a:off x="8534095" y="2658160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Утилизация лицензий — 100%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Все выданные лицензии задействованы, свободных лицензий нет.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8D3921E-E1DB-9691-DE7F-72399CC22920}"/>
              </a:ext>
            </a:extLst>
          </p:cNvPr>
          <p:cNvSpPr txBox="1"/>
          <p:nvPr/>
        </p:nvSpPr>
        <p:spPr>
          <a:xfrm>
            <a:off x="8534095" y="3474720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Высокая потребность в платформе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Пользователи испытывают нехватку лицензий — текущего объёма недостаточно.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F3BA594F-ADF5-355B-BA2C-4A01CB3B4FD2}"/>
              </a:ext>
            </a:extLst>
          </p:cNvPr>
          <p:cNvSpPr txBox="1"/>
          <p:nvPr/>
        </p:nvSpPr>
        <p:spPr>
          <a:xfrm>
            <a:off x="8534095" y="4283050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Устойчивый рост пользователей</a:t>
            </a:r>
            <a:endParaRPr lang="ru-RU" sz="900" b="1" dirty="0">
              <a:solidFill>
                <a:srgbClr val="000000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Количество активных пользователей стабильно растёт, что подтверждает востребованность платформы.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7F00A0ED-C5A9-56DD-5955-864009A0044F}"/>
              </a:ext>
            </a:extLst>
          </p:cNvPr>
          <p:cNvGrpSpPr/>
          <p:nvPr/>
        </p:nvGrpSpPr>
        <p:grpSpPr>
          <a:xfrm>
            <a:off x="8191195" y="2658160"/>
            <a:ext cx="228600" cy="2651760"/>
            <a:chOff x="8191195" y="2686507"/>
            <a:chExt cx="228600" cy="2651760"/>
          </a:xfrm>
        </p:grpSpPr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5A2B4FF0-D3EB-8187-9946-FD8B1EB19385}"/>
                </a:ext>
              </a:extLst>
            </p:cNvPr>
            <p:cNvSpPr/>
            <p:nvPr/>
          </p:nvSpPr>
          <p:spPr>
            <a:xfrm>
              <a:off x="8191195" y="2686507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4DD4AD5A-FA39-2457-980A-F5E27D3455CC}"/>
                </a:ext>
              </a:extLst>
            </p:cNvPr>
            <p:cNvSpPr/>
            <p:nvPr/>
          </p:nvSpPr>
          <p:spPr>
            <a:xfrm>
              <a:off x="8191195" y="3493922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89721F82-B807-C2D8-0122-1EF6A55C74A0}"/>
                </a:ext>
              </a:extLst>
            </p:cNvPr>
            <p:cNvSpPr/>
            <p:nvPr/>
          </p:nvSpPr>
          <p:spPr>
            <a:xfrm>
              <a:off x="8191195" y="4301338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6" name="Shape 18">
              <a:extLst>
                <a:ext uri="{FF2B5EF4-FFF2-40B4-BE49-F238E27FC236}">
                  <a16:creationId xmlns:a16="http://schemas.microsoft.com/office/drawing/2014/main" id="{572ADA64-8055-B8C8-9005-742A596A8166}"/>
                </a:ext>
              </a:extLst>
            </p:cNvPr>
            <p:cNvSpPr/>
            <p:nvPr/>
          </p:nvSpPr>
          <p:spPr>
            <a:xfrm>
              <a:off x="8191195" y="5109667"/>
              <a:ext cx="228600" cy="228600"/>
            </a:xfrm>
            <a:prstGeom prst="ellipse">
              <a:avLst/>
            </a:prstGeom>
            <a:solidFill>
              <a:srgbClr val="009845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pic>
          <p:nvPicPr>
            <p:cNvPr id="18" name="Image 3" descr="preencoded.png">
              <a:extLst>
                <a:ext uri="{FF2B5EF4-FFF2-40B4-BE49-F238E27FC236}">
                  <a16:creationId xmlns:a16="http://schemas.microsoft.com/office/drawing/2014/main" id="{C44D8A8D-39DD-1EDA-3C4B-7B75CFEAA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911" r="-1911"/>
            <a:stretch/>
          </p:blipFill>
          <p:spPr>
            <a:xfrm>
              <a:off x="8238744" y="2743200"/>
              <a:ext cx="133502" cy="114300"/>
            </a:xfrm>
            <a:prstGeom prst="rect">
              <a:avLst/>
            </a:prstGeom>
          </p:spPr>
        </p:pic>
        <p:pic>
          <p:nvPicPr>
            <p:cNvPr id="21" name="Image 4" descr="preencoded.png">
              <a:extLst>
                <a:ext uri="{FF2B5EF4-FFF2-40B4-BE49-F238E27FC236}">
                  <a16:creationId xmlns:a16="http://schemas.microsoft.com/office/drawing/2014/main" id="{A9CB72A5-82C4-D0E6-7EA8-5B9A9366F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1911" r="-1911"/>
            <a:stretch/>
          </p:blipFill>
          <p:spPr>
            <a:xfrm>
              <a:off x="8238744" y="3550615"/>
              <a:ext cx="133502" cy="114300"/>
            </a:xfrm>
            <a:prstGeom prst="rect">
              <a:avLst/>
            </a:prstGeom>
          </p:spPr>
        </p:pic>
        <p:pic>
          <p:nvPicPr>
            <p:cNvPr id="24" name="Image 5" descr="preencoded.png">
              <a:extLst>
                <a:ext uri="{FF2B5EF4-FFF2-40B4-BE49-F238E27FC236}">
                  <a16:creationId xmlns:a16="http://schemas.microsoft.com/office/drawing/2014/main" id="{411FC1A1-77DE-8F73-7911-FA914BCA9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80" b="-80"/>
            <a:stretch/>
          </p:blipFill>
          <p:spPr>
            <a:xfrm>
              <a:off x="8234172" y="4358945"/>
              <a:ext cx="142646" cy="114300"/>
            </a:xfrm>
            <a:prstGeom prst="rect">
              <a:avLst/>
            </a:prstGeom>
          </p:spPr>
        </p:pic>
        <p:pic>
          <p:nvPicPr>
            <p:cNvPr id="27" name="Image 6" descr="preencoded.png">
              <a:extLst>
                <a:ext uri="{FF2B5EF4-FFF2-40B4-BE49-F238E27FC236}">
                  <a16:creationId xmlns:a16="http://schemas.microsoft.com/office/drawing/2014/main" id="{67DE648E-F0B0-B8CC-D724-06E081F71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248802" y="5166360"/>
              <a:ext cx="114300" cy="114300"/>
            </a:xfrm>
            <a:prstGeom prst="rect">
              <a:avLst/>
            </a:prstGeom>
          </p:spPr>
        </p:pic>
      </p:grpSp>
      <p:sp>
        <p:nvSpPr>
          <p:cNvPr id="28" name="Text 19">
            <a:extLst>
              <a:ext uri="{FF2B5EF4-FFF2-40B4-BE49-F238E27FC236}">
                <a16:creationId xmlns:a16="http://schemas.microsoft.com/office/drawing/2014/main" id="{C16876CD-9349-3936-BC86-360A43B4F4F9}"/>
              </a:ext>
            </a:extLst>
          </p:cNvPr>
          <p:cNvSpPr txBox="1"/>
          <p:nvPr/>
        </p:nvSpPr>
        <p:spPr>
          <a:xfrm>
            <a:off x="8534095" y="5090465"/>
            <a:ext cx="28767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Возможность оптимизации</a:t>
            </a:r>
            <a:endParaRPr lang="en-US" sz="900" dirty="0">
              <a:latin typeface="Montserrat" pitchFamily="2" charset="0"/>
            </a:endParaRPr>
          </a:p>
          <a:p>
            <a:pPr marL="0" indent="0" algn="l">
              <a:buNone/>
            </a:pPr>
            <a:endParaRPr lang="ru-RU" sz="900" dirty="0">
              <a:solidFill>
                <a:srgbClr val="333333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Потенциал перевода неактивных пользователей на Capacity-лицензии.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F70B8047-DF51-DE85-1D2F-8107873ED4A7}"/>
              </a:ext>
            </a:extLst>
          </p:cNvPr>
          <p:cNvSpPr txBox="1"/>
          <p:nvPr/>
        </p:nvSpPr>
        <p:spPr>
          <a:xfrm>
            <a:off x="571500" y="64766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CBAA9701-1FD1-750D-5B1F-5E6E2EAB298C}"/>
              </a:ext>
            </a:extLst>
          </p:cNvPr>
          <p:cNvSpPr txBox="1"/>
          <p:nvPr/>
        </p:nvSpPr>
        <p:spPr>
          <a:xfrm>
            <a:off x="10370210" y="6476695"/>
            <a:ext cx="12508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graphicFrame>
        <p:nvGraphicFramePr>
          <p:cNvPr id="38" name="Chart 1">
            <a:extLst>
              <a:ext uri="{FF2B5EF4-FFF2-40B4-BE49-F238E27FC236}">
                <a16:creationId xmlns:a16="http://schemas.microsoft.com/office/drawing/2014/main" id="{5C809ABD-BB0F-9AC1-B4B2-86DF85A29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35117"/>
              </p:ext>
            </p:extLst>
          </p:nvPr>
        </p:nvGraphicFramePr>
        <p:xfrm>
          <a:off x="660400" y="2006600"/>
          <a:ext cx="6858000" cy="408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" name="Shape 3">
            <a:extLst>
              <a:ext uri="{FF2B5EF4-FFF2-40B4-BE49-F238E27FC236}">
                <a16:creationId xmlns:a16="http://schemas.microsoft.com/office/drawing/2014/main" id="{3C2DD5D0-8FB7-CC98-519E-F6EFF897D4BA}"/>
              </a:ext>
            </a:extLst>
          </p:cNvPr>
          <p:cNvSpPr/>
          <p:nvPr/>
        </p:nvSpPr>
        <p:spPr>
          <a:xfrm>
            <a:off x="8010361" y="1901038"/>
            <a:ext cx="3521239" cy="4324197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15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DBDF570B-39E1-FDE5-3CD3-77E8AE8D1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47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" y="571500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Исследование альтернативных BI-платформ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571500" y="1000354"/>
            <a:ext cx="10592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Проделанная работа команды по анализу возможностей оптимизации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1333195" y="1619402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Анализ рынка BI-платформ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333195" y="1886407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Провели детальный анализ ведущих платформ: </a:t>
            </a:r>
            <a:r>
              <a:rPr lang="en-US" sz="1200" b="1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Power BI, Microsoft Fabric, Tableau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. Изучили функциональность, стоимость, архитектуру, совместимость с инфраструктурой банка. 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333195" y="2667305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Практическое тестирование Power BI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333195" y="2933395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Команда самостоятельно протестировала Power BI на реальных задачах банка. Разработчики создавали отчёты, оценивали трудозатраты и удобство перехода.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333195" y="3715207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Оценка гибридного сценария (Qlik + Power BI)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333195" y="398129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Рассмотрели сценарий комбинированного использования — Qlik для одних задач, Power BI для других. Выявили: </a:t>
            </a:r>
            <a:r>
              <a:rPr lang="en-US" sz="1200" b="1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двойные затраты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на разработку, поддержку и обучение. Работа на двух платформах — </a:t>
            </a:r>
            <a:r>
              <a:rPr lang="en-US" sz="1200" b="1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неэффективна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333195" y="4858207"/>
            <a:ext cx="9639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Ключевое ограничение Power BI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333195" y="512429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Для полноценного масштабирования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Power BI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требуется облачная платформа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Microsoft Fabric,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что </a:t>
            </a:r>
            <a:r>
              <a:rPr lang="ru-RU" sz="1200" b="1" dirty="0">
                <a:solidFill>
                  <a:srgbClr val="DC2626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противоречит политике ИБ банка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.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On-premise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версия (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Report Server)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существенно уступает облачной по функционалу. Дополнительно — лимит загрузки данных в </a:t>
            </a:r>
            <a:r>
              <a:rPr lang="en-US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Power BI Pro 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составляет </a:t>
            </a:r>
            <a:r>
              <a:rPr lang="ru-RU" sz="1200" b="1" dirty="0">
                <a:solidFill>
                  <a:srgbClr val="DC2626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1 ГБ на датасет</a:t>
            </a:r>
            <a:r>
              <a:rPr lang="ru-RU" sz="1200" dirty="0">
                <a:solidFill>
                  <a:srgbClr val="444444"/>
                </a:solidFill>
                <a:latin typeface="Montserrat"/>
                <a:ea typeface="Open Sans" pitchFamily="34" charset="-122"/>
                <a:cs typeface="Open Sans" pitchFamily="34" charset="-120"/>
              </a:rPr>
              <a:t>, что недостаточно для объёмов данных банка.</a:t>
            </a:r>
            <a:endParaRPr lang="en-US" sz="1200" dirty="0">
              <a:solidFill>
                <a:srgbClr val="444444"/>
              </a:solidFill>
              <a:latin typeface="Montserrat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0370210" y="6524244"/>
            <a:ext cx="12508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571500" y="6524244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E58FEF1-82DE-31EB-8738-758F2E79400C}"/>
              </a:ext>
            </a:extLst>
          </p:cNvPr>
          <p:cNvGrpSpPr/>
          <p:nvPr/>
        </p:nvGrpSpPr>
        <p:grpSpPr>
          <a:xfrm>
            <a:off x="743407" y="1552128"/>
            <a:ext cx="381305" cy="3543300"/>
            <a:chOff x="733349" y="1619402"/>
            <a:chExt cx="381305" cy="3543300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/>
            <a:srcRect l="-398" r="-398"/>
            <a:stretch/>
          </p:blipFill>
          <p:spPr>
            <a:xfrm>
              <a:off x="905256" y="1619402"/>
              <a:ext cx="38405" cy="3333902"/>
            </a:xfrm>
            <a:prstGeom prst="rect">
              <a:avLst/>
            </a:prstGeom>
          </p:spPr>
        </p:pic>
        <p:pic>
          <p:nvPicPr>
            <p:cNvPr id="6" name="Image 2" descr="preencoded.png"/>
            <p:cNvPicPr>
              <a:picLocks noChangeAspect="1"/>
            </p:cNvPicPr>
            <p:nvPr/>
          </p:nvPicPr>
          <p:blipFill>
            <a:blip r:embed="rId5"/>
            <a:srcRect l="-395" r="-395"/>
            <a:stretch/>
          </p:blipFill>
          <p:spPr>
            <a:xfrm>
              <a:off x="905256" y="1619402"/>
              <a:ext cx="38405" cy="3238805"/>
            </a:xfrm>
            <a:prstGeom prst="rect">
              <a:avLst/>
            </a:prstGeom>
          </p:spPr>
        </p:pic>
        <p:sp>
          <p:nvSpPr>
            <p:cNvPr id="7" name="Shape 2"/>
            <p:cNvSpPr/>
            <p:nvPr/>
          </p:nvSpPr>
          <p:spPr>
            <a:xfrm>
              <a:off x="771754" y="1619402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8" name="Shape 3"/>
            <p:cNvSpPr/>
            <p:nvPr/>
          </p:nvSpPr>
          <p:spPr>
            <a:xfrm>
              <a:off x="771754" y="2667305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9" name="Shape 4"/>
            <p:cNvSpPr/>
            <p:nvPr/>
          </p:nvSpPr>
          <p:spPr>
            <a:xfrm>
              <a:off x="771754" y="3715207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10" name="Shape 5"/>
            <p:cNvSpPr/>
            <p:nvPr/>
          </p:nvSpPr>
          <p:spPr>
            <a:xfrm>
              <a:off x="771754" y="4858207"/>
              <a:ext cx="304495" cy="304495"/>
            </a:xfrm>
            <a:prstGeom prst="ellipse">
              <a:avLst/>
            </a:prstGeom>
            <a:solidFill>
              <a:srgbClr val="0098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733349" y="1676095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733349" y="2723998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733349" y="3771900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733349" y="4914900"/>
              <a:ext cx="381305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pic>
        <p:nvPicPr>
          <p:cNvPr id="28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D534AEDC-82F2-821F-4670-9D9F9ACED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3">
            <a:extLst>
              <a:ext uri="{FF2B5EF4-FFF2-40B4-BE49-F238E27FC236}">
                <a16:creationId xmlns:a16="http://schemas.microsoft.com/office/drawing/2014/main" id="{51832334-6E05-15CF-3558-871708542803}"/>
              </a:ext>
            </a:extLst>
          </p:cNvPr>
          <p:cNvSpPr/>
          <p:nvPr/>
        </p:nvSpPr>
        <p:spPr>
          <a:xfrm>
            <a:off x="473389" y="1542594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F2553C49-5E0B-98E1-F3FC-2BFE03B97ED6}"/>
              </a:ext>
            </a:extLst>
          </p:cNvPr>
          <p:cNvSpPr/>
          <p:nvPr/>
        </p:nvSpPr>
        <p:spPr>
          <a:xfrm>
            <a:off x="6179426" y="1554617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857707" y="2286000"/>
            <a:ext cx="4809744" cy="91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6524244" y="2286000"/>
            <a:ext cx="4809744" cy="91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549042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7168091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7787140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8406188" y="4135465"/>
            <a:ext cx="609905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571500" y="571500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Итоги анализа BI-платформ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571500" y="1000354"/>
            <a:ext cx="10592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Итоговая оценка применимости для Halyk Bank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4033156" y="1809597"/>
            <a:ext cx="1537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Альтернатив</a:t>
            </a:r>
            <a:r>
              <a:rPr lang="ru-RU" sz="1200" b="1" dirty="0" err="1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ный</a:t>
            </a:r>
            <a:endParaRPr lang="en-US" sz="1200" dirty="0">
              <a:latin typeface="Montserrat" pitchFamily="2" charset="0"/>
            </a:endParaRP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CB82BB0-46AD-F9D9-A349-26F4F735EA27}"/>
              </a:ext>
            </a:extLst>
          </p:cNvPr>
          <p:cNvGrpSpPr/>
          <p:nvPr/>
        </p:nvGrpSpPr>
        <p:grpSpPr>
          <a:xfrm>
            <a:off x="857707" y="2428646"/>
            <a:ext cx="4924958" cy="1200607"/>
            <a:chOff x="857707" y="2428646"/>
            <a:chExt cx="4924958" cy="1200607"/>
          </a:xfrm>
        </p:grpSpPr>
        <p:sp>
          <p:nvSpPr>
            <p:cNvPr id="19" name="Text 12"/>
            <p:cNvSpPr txBox="1"/>
            <p:nvPr/>
          </p:nvSpPr>
          <p:spPr>
            <a:xfrm>
              <a:off x="857707" y="2428646"/>
              <a:ext cx="4924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ВОЗМОЖНОСТИ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0" name="Text 13"/>
            <p:cNvSpPr txBox="1"/>
            <p:nvPr/>
          </p:nvSpPr>
          <p:spPr>
            <a:xfrm>
              <a:off x="857707" y="271485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Стоимость: </a:t>
              </a:r>
              <a:r>
                <a:rPr lang="en-US" sz="900" b="1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$240/год</a:t>
              </a: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на пользователя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857707" y="2962656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Удобен для управленческой отчётности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22" name="Text 15"/>
            <p:cNvSpPr txBox="1"/>
            <p:nvPr/>
          </p:nvSpPr>
          <p:spPr>
            <a:xfrm>
              <a:off x="857707" y="320954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Гибкость моделей данных (Power Query M)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23" name="Text 16"/>
            <p:cNvSpPr txBox="1"/>
            <p:nvPr/>
          </p:nvSpPr>
          <p:spPr>
            <a:xfrm>
              <a:off x="857707" y="3457346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Встроенная безопасность (Azure AD, RLS)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24" name="Text 17"/>
          <p:cNvSpPr txBox="1"/>
          <p:nvPr/>
        </p:nvSpPr>
        <p:spPr>
          <a:xfrm>
            <a:off x="857707" y="4143146"/>
            <a:ext cx="4886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Enterprise-масштабирование </a:t>
            </a:r>
            <a:r>
              <a:rPr lang="en-US" sz="900" b="1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</a:t>
            </a:r>
            <a:r>
              <a:rPr lang="en-US" sz="900" b="1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через облако (Fabric)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— не проходит по политике ИБ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857707" y="4562856"/>
            <a:ext cx="5166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Power BI enterprise -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версия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ограничена, невозможно масштабировать на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весь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банк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, максимальная обработка данных 1 </a:t>
            </a:r>
            <a:r>
              <a:rPr lang="ru-RU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гб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857707" y="4924044"/>
            <a:ext cx="4924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Отсутствие ассоциативной модели — </a:t>
            </a:r>
            <a:r>
              <a:rPr lang="en-US" sz="900" dirty="0" err="1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линейные запросы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857707" y="5171846"/>
            <a:ext cx="4924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Полное переобучение команды и миграция наработок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8762695" y="1842516"/>
            <a:ext cx="2477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2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Оптимальный</a:t>
            </a:r>
            <a:endParaRPr lang="en-US" sz="1200" dirty="0">
              <a:latin typeface="Montserrat" pitchFamily="2" charset="0"/>
            </a:endParaRPr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C625D7E2-A168-A000-E638-4FDFC11EC8DE}"/>
              </a:ext>
            </a:extLst>
          </p:cNvPr>
          <p:cNvGrpSpPr/>
          <p:nvPr/>
        </p:nvGrpSpPr>
        <p:grpSpPr>
          <a:xfrm>
            <a:off x="6524244" y="2428646"/>
            <a:ext cx="5241341" cy="1200607"/>
            <a:chOff x="6524244" y="2428646"/>
            <a:chExt cx="5241341" cy="1200607"/>
          </a:xfrm>
        </p:grpSpPr>
        <p:sp>
          <p:nvSpPr>
            <p:cNvPr id="30" name="Text 22"/>
            <p:cNvSpPr txBox="1"/>
            <p:nvPr/>
          </p:nvSpPr>
          <p:spPr>
            <a:xfrm>
              <a:off x="6524244" y="2428646"/>
              <a:ext cx="4924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ВОЗМОЖНОСТИ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31" name="Text 23"/>
            <p:cNvSpPr txBox="1"/>
            <p:nvPr/>
          </p:nvSpPr>
          <p:spPr>
            <a:xfrm>
              <a:off x="6524244" y="271485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Уникальная ассоциативная модель QIX</a:t>
              </a: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— связи во всех данных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32" name="Text 24"/>
            <p:cNvSpPr txBox="1"/>
            <p:nvPr/>
          </p:nvSpPr>
          <p:spPr>
            <a:xfrm>
              <a:off x="6524244" y="2962656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Полноценный enterprise on-premise</a:t>
              </a: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— соответствует политике ИБ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33" name="Text 25"/>
            <p:cNvSpPr txBox="1"/>
            <p:nvPr/>
          </p:nvSpPr>
          <p:spPr>
            <a:xfrm>
              <a:off x="6524244" y="3209544"/>
              <a:ext cx="4924958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Масштабируемость на весь банк: филиалы, департаменты, дочки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34" name="Text 26"/>
            <p:cNvSpPr txBox="1"/>
            <p:nvPr/>
          </p:nvSpPr>
          <p:spPr>
            <a:xfrm>
              <a:off x="6524244" y="3457346"/>
              <a:ext cx="524134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3333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Встроенный ETL, Self-Service, API, Mashups, NPrinting, Section Access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35" name="Text 27"/>
          <p:cNvSpPr txBox="1"/>
          <p:nvPr/>
        </p:nvSpPr>
        <p:spPr>
          <a:xfrm>
            <a:off x="6672486" y="5325552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Стоимость: ~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415 евро 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/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год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6577573" y="5387731"/>
            <a:ext cx="47549" cy="47549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6672486" y="5567149"/>
            <a:ext cx="236281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Требует квалифицированной команды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6577573" y="5625475"/>
            <a:ext cx="47549" cy="47549"/>
          </a:xfrm>
          <a:prstGeom prst="ellipse">
            <a:avLst/>
          </a:prstGeom>
          <a:solidFill>
            <a:srgbClr val="6666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9" name="Text 31"/>
          <p:cNvSpPr txBox="1"/>
          <p:nvPr/>
        </p:nvSpPr>
        <p:spPr>
          <a:xfrm>
            <a:off x="6549042" y="3897721"/>
            <a:ext cx="252648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B9CC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Накопленная база</a:t>
            </a:r>
            <a:endParaRPr lang="en-US" sz="900" dirty="0">
              <a:solidFill>
                <a:srgbClr val="02B9CC"/>
              </a:solidFill>
              <a:latin typeface="Montserrat" pitchFamily="2" charset="0"/>
            </a:endParaRPr>
          </a:p>
        </p:txBody>
      </p:sp>
      <p:sp>
        <p:nvSpPr>
          <p:cNvPr id="41" name="Text 33"/>
          <p:cNvSpPr txBox="1"/>
          <p:nvPr/>
        </p:nvSpPr>
        <p:spPr>
          <a:xfrm>
            <a:off x="571500" y="6572707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0370210" y="6572707"/>
            <a:ext cx="12508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3" name="Text 35"/>
          <p:cNvSpPr txBox="1"/>
          <p:nvPr/>
        </p:nvSpPr>
        <p:spPr>
          <a:xfrm>
            <a:off x="6510637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</a:t>
            </a: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4" name="Text 36"/>
          <p:cNvSpPr txBox="1"/>
          <p:nvPr/>
        </p:nvSpPr>
        <p:spPr>
          <a:xfrm>
            <a:off x="6510637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года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7129686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7</a:t>
            </a:r>
            <a:r>
              <a:rPr lang="ru-RU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93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7129686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юзеров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7" name="Text 39"/>
          <p:cNvSpPr txBox="1"/>
          <p:nvPr/>
        </p:nvSpPr>
        <p:spPr>
          <a:xfrm>
            <a:off x="7748735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4к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8" name="Text 40"/>
          <p:cNvSpPr txBox="1"/>
          <p:nvPr/>
        </p:nvSpPr>
        <p:spPr>
          <a:xfrm>
            <a:off x="7748735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аппов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8367784" y="4183013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250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8367784" y="4369551"/>
            <a:ext cx="6675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штат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1034" name="Picture 10" descr="Power BI Logo [Microsoft | 01] - PNG Logo Vector Brand Downloads (SVG, EPS)">
            <a:extLst>
              <a:ext uri="{FF2B5EF4-FFF2-40B4-BE49-F238E27FC236}">
                <a16:creationId xmlns:a16="http://schemas.microsoft.com/office/drawing/2014/main" id="{12CAE525-85ED-8D2B-AA5D-9F0CE9168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70" b="21177"/>
          <a:stretch>
            <a:fillRect/>
          </a:stretch>
        </p:blipFill>
        <p:spPr bwMode="auto">
          <a:xfrm>
            <a:off x="904017" y="1620317"/>
            <a:ext cx="1856532" cy="60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DB0D056-D86C-DC26-27E5-3D0E187C8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9" b="16094"/>
          <a:stretch>
            <a:fillRect/>
          </a:stretch>
        </p:blipFill>
        <p:spPr bwMode="auto">
          <a:xfrm>
            <a:off x="6492469" y="1607515"/>
            <a:ext cx="1514094" cy="6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EF63395B-D2C6-2A48-3A2C-A3F270B77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783E4D3-3CC2-A263-6C9F-917B58E4BCEE}"/>
              </a:ext>
            </a:extLst>
          </p:cNvPr>
          <p:cNvSpPr txBox="1"/>
          <p:nvPr/>
        </p:nvSpPr>
        <p:spPr>
          <a:xfrm>
            <a:off x="860473" y="3895344"/>
            <a:ext cx="4924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ОСОБЕННОСТИ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6A678307-4104-4160-4125-C755C83F16E6}"/>
              </a:ext>
            </a:extLst>
          </p:cNvPr>
          <p:cNvSpPr txBox="1"/>
          <p:nvPr/>
        </p:nvSpPr>
        <p:spPr>
          <a:xfrm>
            <a:off x="6577573" y="5038712"/>
            <a:ext cx="4924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ОСОБЕННОСТИ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">
            <a:extLst>
              <a:ext uri="{FF2B5EF4-FFF2-40B4-BE49-F238E27FC236}">
                <a16:creationId xmlns:a16="http://schemas.microsoft.com/office/drawing/2014/main" id="{E487460F-F78F-8CB7-BDB3-14DC4FA02003}"/>
              </a:ext>
            </a:extLst>
          </p:cNvPr>
          <p:cNvSpPr/>
          <p:nvPr/>
        </p:nvSpPr>
        <p:spPr>
          <a:xfrm>
            <a:off x="7931889" y="1662379"/>
            <a:ext cx="4046144" cy="4610051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38" r="-638"/>
          <a:stretch/>
        </p:blipFill>
        <p:spPr>
          <a:xfrm>
            <a:off x="571500" y="381305"/>
            <a:ext cx="571500" cy="32918"/>
          </a:xfrm>
          <a:prstGeom prst="rect">
            <a:avLst/>
          </a:prstGeom>
        </p:spPr>
      </p:pic>
      <p:sp>
        <p:nvSpPr>
          <p:cNvPr id="100" name="Zone1"/>
          <p:cNvSpPr/>
          <p:nvPr/>
        </p:nvSpPr>
        <p:spPr>
          <a:xfrm>
            <a:off x="762000" y="2006600"/>
            <a:ext cx="3365500" cy="4254500"/>
          </a:xfrm>
          <a:prstGeom prst="rect">
            <a:avLst/>
          </a:prstGeom>
          <a:pattFill prst="pct40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36000" tIns="36000" rIns="36000" bIns="36000" anchor="t"/>
          <a:lstStyle/>
          <a:p>
            <a:pPr algn="ctr">
              <a:buNone/>
            </a:pPr>
            <a:r>
              <a:rPr lang="ru-RU" sz="1000" b="1" dirty="0">
                <a:solidFill>
                  <a:srgbClr val="4A8A4A"/>
                </a:solidFill>
                <a:latin typeface="Montserrat"/>
              </a:rPr>
              <a:t>Срок действия: 2021-2024</a:t>
            </a:r>
          </a:p>
        </p:txBody>
      </p:sp>
      <p:sp>
        <p:nvSpPr>
          <p:cNvPr id="101" name="Zone2"/>
          <p:cNvSpPr/>
          <p:nvPr/>
        </p:nvSpPr>
        <p:spPr>
          <a:xfrm>
            <a:off x="4127500" y="2006600"/>
            <a:ext cx="3327400" cy="4254500"/>
          </a:xfrm>
          <a:prstGeom prst="rect">
            <a:avLst/>
          </a:prstGeom>
          <a:pattFill prst="pct40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lIns="36000" tIns="36000" rIns="36000" bIns="36000" anchor="t"/>
          <a:lstStyle/>
          <a:p>
            <a:pPr algn="ctr">
              <a:buNone/>
            </a:pPr>
            <a:r>
              <a:rPr lang="ru-RU" sz="1000" b="1" dirty="0">
                <a:solidFill>
                  <a:srgbClr val="5A7A9A"/>
                </a:solidFill>
                <a:latin typeface="Montserrat"/>
              </a:rPr>
              <a:t>Срок действия: 2024-2027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571500" y="604418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Динамика затрат на лицензии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71500" y="1195121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Анализ циклов закупа, продления и масштабирования (2021-2027)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1500" y="1687982"/>
            <a:ext cx="1981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ИСТОРИЯ ЗАТРАТ (МЛН ₸)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94860" y="1683410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43A047"/>
          </a:solidFill>
          <a:ln w="12700">
            <a:noFill/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765853" y="1662379"/>
            <a:ext cx="1524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Закуп/Продление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57282" y="1695122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7B1FA2"/>
          </a:solidFill>
          <a:ln w="12700">
            <a:noFill/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335082" y="1674091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Докупка/Масштабирование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128000" y="1789078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Ключевые выводы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8128000" y="2072653"/>
            <a:ext cx="12765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100" b="1" dirty="0">
                <a:solidFill>
                  <a:srgbClr val="DC2626"/>
                </a:solidFill>
                <a:latin typeface="Montserrat" pitchFamily="2" charset="0"/>
              </a:rPr>
              <a:t>464</a:t>
            </a:r>
            <a:endParaRPr lang="en-US" sz="2100" dirty="0">
              <a:latin typeface="Montserrat" pitchFamily="2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128000" y="2504453"/>
            <a:ext cx="142829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Пик затрат 2024 (млн ₸)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0160000" y="2072653"/>
            <a:ext cx="981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100" b="1" dirty="0">
                <a:solidFill>
                  <a:srgbClr val="009845"/>
                </a:solidFill>
                <a:latin typeface="Montserrat" pitchFamily="2" charset="0"/>
              </a:rPr>
              <a:t>614</a:t>
            </a:r>
            <a:endParaRPr lang="en-US" sz="2100" dirty="0">
              <a:latin typeface="Montserrat" pitchFamily="2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0160000" y="2504453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План 2027 (млн ₸)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128000" y="2758453"/>
            <a:ext cx="336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 2024 году произошло продление лицензий на 3 года вперед, что сформировало пик затрат. В 2027 году планируется закуп на 614 млн ₸ для обеспечения роста.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8128000" y="3498621"/>
            <a:ext cx="336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ДЕТАЛИЗАЦИЯ (МЛН ₸)</a:t>
            </a:r>
            <a:endParaRPr lang="en-US" sz="1000" dirty="0">
              <a:latin typeface="Montserrat" pitchFamily="2" charset="0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756233"/>
              </p:ext>
            </p:extLst>
          </p:nvPr>
        </p:nvGraphicFramePr>
        <p:xfrm>
          <a:off x="8128000" y="3746500"/>
          <a:ext cx="3619500" cy="2399690"/>
        </p:xfrm>
        <a:graphic>
          <a:graphicData uri="http://schemas.openxmlformats.org/drawingml/2006/table">
            <a:tbl>
              <a:tblPr/>
              <a:tblGrid>
                <a:gridCol w="514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Год</a:t>
                      </a:r>
                      <a:endParaRPr lang="en-US" sz="800" b="1" dirty="0">
                        <a:solidFill>
                          <a:srgbClr val="666666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Тип</a:t>
                      </a:r>
                      <a:endParaRPr lang="en-US" sz="800" b="1" dirty="0">
                        <a:solidFill>
                          <a:srgbClr val="666666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Сумма</a:t>
                      </a:r>
                      <a:endParaRPr lang="en-US" sz="800" b="1" dirty="0">
                        <a:solidFill>
                          <a:srgbClr val="666666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9845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Факт</a:t>
                      </a:r>
                      <a:endParaRPr lang="en-US" sz="800" b="1" dirty="0">
                        <a:solidFill>
                          <a:srgbClr val="009845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2021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Закуп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110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2023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Докупка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2024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Продление + Докупка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490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Итого факт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629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9845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План</a:t>
                      </a:r>
                      <a:endParaRPr lang="en-US" sz="800" b="1" dirty="0">
                        <a:solidFill>
                          <a:srgbClr val="009845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2026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Докупка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59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2027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Закуп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0" dirty="0">
                          <a:solidFill>
                            <a:srgbClr val="444444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614</a:t>
                      </a:r>
                      <a:endParaRPr lang="en-US" sz="800" b="0" dirty="0">
                        <a:solidFill>
                          <a:srgbClr val="444444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57150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Итого план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ontserrat"/>
                          <a:ea typeface="Open Sans" pitchFamily="34" charset="-122"/>
                          <a:cs typeface="Open Sans" pitchFamily="34" charset="-120"/>
                        </a:rPr>
                        <a:t>673</a:t>
                      </a:r>
                      <a:endParaRPr lang="en-US" sz="800" b="1" dirty="0">
                        <a:solidFill>
                          <a:srgbClr val="333333"/>
                        </a:solidFill>
                        <a:latin typeface="Montserrat"/>
                        <a:ea typeface="Open Sans" charset="0"/>
                        <a:cs typeface="Open Sans" charset="0"/>
                      </a:endParaRPr>
                    </a:p>
                  </a:txBody>
                  <a:tcPr marL="0" marR="0" marT="75895" marB="57150" anchor="ctr">
                    <a:lnL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571500" y="6502400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10543946" y="6502400"/>
            <a:ext cx="12481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25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828A7CC5-E847-39A3-C988-F3E65A61D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YLabel"/>
          <p:cNvSpPr txBox="1"/>
          <p:nvPr/>
        </p:nvSpPr>
        <p:spPr>
          <a:xfrm>
            <a:off x="609600" y="1968500"/>
            <a:ext cx="571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ru-RU" sz="800" dirty="0">
                <a:solidFill>
                  <a:srgbClr val="999999"/>
                </a:solidFill>
                <a:latin typeface="Montserrat"/>
              </a:rPr>
              <a:t>млн ₸</a:t>
            </a:r>
          </a:p>
        </p:txBody>
      </p:sp>
      <p:sp>
        <p:nvSpPr>
          <p:cNvPr id="3" name="HorzSep">
            <a:extLst>
              <a:ext uri="{FF2B5EF4-FFF2-40B4-BE49-F238E27FC236}">
                <a16:creationId xmlns:a16="http://schemas.microsoft.com/office/drawing/2014/main" id="{EBDD96DE-A8CB-AD40-B94A-8D0009BED71B}"/>
              </a:ext>
            </a:extLst>
          </p:cNvPr>
          <p:cNvSpPr/>
          <p:nvPr/>
        </p:nvSpPr>
        <p:spPr>
          <a:xfrm>
            <a:off x="8128000" y="3368053"/>
            <a:ext cx="3175000" cy="9525"/>
          </a:xfrm>
          <a:prstGeom prst="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/>
          </a:p>
        </p:txBody>
      </p:sp>
      <p:graphicFrame>
        <p:nvGraphicFramePr>
          <p:cNvPr id="301" name="NewChart"/>
          <p:cNvGraphicFramePr/>
          <p:nvPr>
            <p:extLst>
              <p:ext uri="{D42A27DB-BD31-4B8C-83A1-F6EECF244321}">
                <p14:modId xmlns:p14="http://schemas.microsoft.com/office/powerpoint/2010/main" val="327522002"/>
              </p:ext>
            </p:extLst>
          </p:nvPr>
        </p:nvGraphicFramePr>
        <p:xfrm>
          <a:off x="431800" y="2252764"/>
          <a:ext cx="7382984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VertDivider">
            <a:extLst>
              <a:ext uri="{FF2B5EF4-FFF2-40B4-BE49-F238E27FC236}">
                <a16:creationId xmlns:a16="http://schemas.microsoft.com/office/drawing/2014/main" id="{E81CB22A-3540-954C-B724-82E8B290910F}"/>
              </a:ext>
            </a:extLst>
          </p:cNvPr>
          <p:cNvSpPr/>
          <p:nvPr/>
        </p:nvSpPr>
        <p:spPr>
          <a:xfrm>
            <a:off x="7937500" y="1625600"/>
            <a:ext cx="9525" cy="4572000"/>
          </a:xfrm>
          <a:prstGeom prst="rect">
            <a:avLst/>
          </a:prstGeom>
          <a:solidFill>
            <a:srgbClr val="E8E8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9647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90695" y="1809598"/>
            <a:ext cx="7429500" cy="4286707"/>
          </a:xfrm>
          <a:prstGeom prst="roundRect">
            <a:avLst>
              <a:gd name="adj" fmla="val 2051"/>
            </a:avLst>
          </a:prstGeom>
          <a:solidFill>
            <a:srgbClr val="F5F5F5">
              <a:alpha val="10923"/>
            </a:srgbClr>
          </a:solidFill>
          <a:ln w="12700">
            <a:solidFill>
              <a:schemeClr val="bg1">
                <a:lumMod val="75000"/>
                <a:alpha val="49000"/>
              </a:schemeClr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71500" y="523951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Прогноз развития на 2027 год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71500" y="1000354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Стратегическое планирование роста пользователей и бюджетных обязательств при традиционном подходе</a:t>
            </a:r>
            <a:endParaRPr lang="en-US" sz="1200" dirty="0">
              <a:latin typeface="Montserrat" pitchFamily="2" charset="0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C990D8AF-5C03-850F-0598-47D66002BBDD}"/>
              </a:ext>
            </a:extLst>
          </p:cNvPr>
          <p:cNvGrpSpPr/>
          <p:nvPr/>
        </p:nvGrpSpPr>
        <p:grpSpPr>
          <a:xfrm>
            <a:off x="569672" y="1809598"/>
            <a:ext cx="3295498" cy="1923898"/>
            <a:chOff x="571500" y="1714500"/>
            <a:chExt cx="3295498" cy="1923898"/>
          </a:xfrm>
        </p:grpSpPr>
        <p:sp>
          <p:nvSpPr>
            <p:cNvPr id="5" name="Shape 2"/>
            <p:cNvSpPr/>
            <p:nvPr/>
          </p:nvSpPr>
          <p:spPr>
            <a:xfrm>
              <a:off x="571500" y="1714500"/>
              <a:ext cx="3295498" cy="1923898"/>
            </a:xfrm>
            <a:prstGeom prst="roundRect">
              <a:avLst>
                <a:gd name="adj" fmla="val 1882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571500" y="1714500"/>
              <a:ext cx="47549" cy="1923898"/>
            </a:xfrm>
            <a:prstGeom prst="roundRect">
              <a:avLst>
                <a:gd name="adj" fmla="val 76161"/>
              </a:avLst>
            </a:prstGeom>
            <a:solidFill>
              <a:srgbClr val="009845"/>
            </a:solidFill>
            <a:ln w="12700">
              <a:solidFill>
                <a:srgbClr val="00984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857707" y="1904695"/>
              <a:ext cx="28730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ru-RU" sz="1000" b="1" kern="0" spc="38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СРЕДНЕГОДОВОЙ ТЕМП РОСТА</a:t>
              </a:r>
              <a:endParaRPr lang="en-US" sz="1000" b="1" kern="0" spc="38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endParaRPr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857707" y="2238451"/>
              <a:ext cx="295351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ru-RU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30</a:t>
              </a:r>
              <a:r>
                <a:rPr lang="en-US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.</a:t>
              </a:r>
              <a:r>
                <a:rPr lang="ru-RU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5</a:t>
              </a:r>
              <a:r>
                <a:rPr lang="en-US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%</a:t>
              </a:r>
              <a:endParaRPr lang="en-US" sz="3600" dirty="0">
                <a:latin typeface="Montserrat" pitchFamily="2" charset="0"/>
              </a:endParaRPr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857707" y="2857500"/>
              <a:ext cx="2839212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Устойчивый тренд масштабирования аналитики в банке</a:t>
              </a:r>
              <a:endParaRPr lang="en-US" sz="900" dirty="0">
                <a:latin typeface="Montserrat" pitchFamily="2" charset="0"/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A68E2FA-57E3-CBFB-BFBE-54C94D3B7911}"/>
              </a:ext>
            </a:extLst>
          </p:cNvPr>
          <p:cNvGrpSpPr/>
          <p:nvPr/>
        </p:nvGrpSpPr>
        <p:grpSpPr>
          <a:xfrm>
            <a:off x="569672" y="4172407"/>
            <a:ext cx="3295498" cy="1923898"/>
            <a:chOff x="571500" y="3810305"/>
            <a:chExt cx="3295498" cy="1923898"/>
          </a:xfrm>
        </p:grpSpPr>
        <p:sp>
          <p:nvSpPr>
            <p:cNvPr id="7" name="Shape 4"/>
            <p:cNvSpPr/>
            <p:nvPr/>
          </p:nvSpPr>
          <p:spPr>
            <a:xfrm>
              <a:off x="571500" y="3810305"/>
              <a:ext cx="3295498" cy="1923898"/>
            </a:xfrm>
            <a:prstGeom prst="roundRect">
              <a:avLst>
                <a:gd name="adj" fmla="val 1882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571500" y="3810305"/>
              <a:ext cx="47549" cy="1923898"/>
            </a:xfrm>
            <a:prstGeom prst="roundRect">
              <a:avLst>
                <a:gd name="adj" fmla="val 76161"/>
              </a:avLst>
            </a:prstGeom>
            <a:solidFill>
              <a:srgbClr val="009845"/>
            </a:solidFill>
            <a:ln w="12700">
              <a:solidFill>
                <a:srgbClr val="00984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>
                <a:latin typeface="Montserrat" pitchFamily="2" charset="0"/>
              </a:endParaRPr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857707" y="4000500"/>
              <a:ext cx="28730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38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ПРОГНОЗ ЛИЦЕНЗИЙ 2027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857707" y="4334256"/>
              <a:ext cx="295351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00984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1,362</a:t>
              </a:r>
              <a:endParaRPr lang="en-US" sz="3600" dirty="0">
                <a:latin typeface="Montserrat" pitchFamily="2" charset="0"/>
              </a:endParaRPr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857707" y="4953305"/>
              <a:ext cx="2873045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Активных пользователей Qlik Sense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18" name="Shape 15"/>
          <p:cNvSpPr/>
          <p:nvPr/>
        </p:nvSpPr>
        <p:spPr>
          <a:xfrm>
            <a:off x="4190695" y="1476756"/>
            <a:ext cx="28346" cy="171907"/>
          </a:xfrm>
          <a:prstGeom prst="rect">
            <a:avLst/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4314139" y="1476756"/>
            <a:ext cx="74203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ДИНАМИКА РОСТА ЛИЦЕНЗИЙ (2021-2027)</a:t>
            </a:r>
            <a:endParaRPr lang="en-US" sz="1000" dirty="0">
              <a:latin typeface="Montserrat" pitchFamily="2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7D40AD9-DC11-1A16-3298-785F8987F6BE}"/>
              </a:ext>
            </a:extLst>
          </p:cNvPr>
          <p:cNvGrpSpPr/>
          <p:nvPr/>
        </p:nvGrpSpPr>
        <p:grpSpPr>
          <a:xfrm>
            <a:off x="4513191" y="5065775"/>
            <a:ext cx="6900977" cy="1030530"/>
            <a:chOff x="4548226" y="5106172"/>
            <a:chExt cx="6900977" cy="1030530"/>
          </a:xfrm>
        </p:grpSpPr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4"/>
            <a:srcRect t="-13" b="-13"/>
            <a:stretch/>
          </p:blipFill>
          <p:spPr>
            <a:xfrm>
              <a:off x="4548226" y="5333695"/>
              <a:ext cx="428854" cy="381305"/>
            </a:xfrm>
            <a:prstGeom prst="rect">
              <a:avLst/>
            </a:prstGeom>
          </p:spPr>
        </p:pic>
        <p:sp>
          <p:nvSpPr>
            <p:cNvPr id="22" name="Text 17"/>
            <p:cNvSpPr txBox="1"/>
            <p:nvPr/>
          </p:nvSpPr>
          <p:spPr>
            <a:xfrm>
              <a:off x="5238598" y="5106172"/>
              <a:ext cx="6210605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Прогноз суммы продления на 3 года </a:t>
              </a:r>
              <a:r>
                <a:rPr lang="en-US" sz="1000" b="1" dirty="0">
                  <a:solidFill>
                    <a:srgbClr val="666666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(2027–2030)</a:t>
              </a:r>
              <a:endParaRPr lang="en-US" sz="1200" dirty="0">
                <a:latin typeface="Montserrat" pitchFamily="2" charset="0"/>
              </a:endParaRPr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5238598" y="5352898"/>
              <a:ext cx="4589794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ru-RU" sz="3100" b="1" dirty="0"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614</a:t>
              </a:r>
              <a:r>
                <a:rPr lang="en-US" sz="3100" b="1" dirty="0"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 млн ₸</a:t>
              </a:r>
              <a:endParaRPr lang="en-US" sz="3100" dirty="0">
                <a:latin typeface="Montserrat" pitchFamily="2" charset="0"/>
              </a:endParaRPr>
            </a:p>
          </p:txBody>
        </p:sp>
        <p:sp>
          <p:nvSpPr>
            <p:cNvPr id="24" name="Text 19"/>
            <p:cNvSpPr txBox="1"/>
            <p:nvPr/>
          </p:nvSpPr>
          <p:spPr>
            <a:xfrm>
              <a:off x="5238597" y="5791972"/>
              <a:ext cx="3840229" cy="3447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*при сохранении текущей </a:t>
              </a:r>
              <a:r>
                <a:rPr lang="en-US" sz="900" i="1" dirty="0" err="1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модели</a:t>
              </a:r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лицензирования</a:t>
              </a:r>
              <a:r>
                <a:rPr lang="ru-RU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 </a:t>
              </a:r>
              <a:br>
                <a:rPr lang="ru-RU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</a:br>
              <a:r>
                <a:rPr lang="ru-RU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стоимость </a:t>
              </a:r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PROFESSIONAL  – 415;</a:t>
              </a:r>
              <a:r>
                <a:rPr lang="ru-RU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</a:t>
              </a:r>
              <a:r>
                <a:rPr lang="en-US" sz="900" i="1" dirty="0">
                  <a:solidFill>
                    <a:srgbClr val="999999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ANALYZER -  235;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25" name="Text 20"/>
          <p:cNvSpPr txBox="1"/>
          <p:nvPr/>
        </p:nvSpPr>
        <p:spPr>
          <a:xfrm>
            <a:off x="571500" y="64766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9639605" y="6476695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27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3F08F737-7D28-F23C-EDC2-B9BEF9B3C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1" name="Chart 1"/>
          <p:cNvGraphicFramePr/>
          <p:nvPr>
            <p:extLst>
              <p:ext uri="{D42A27DB-BD31-4B8C-83A1-F6EECF244321}">
                <p14:modId xmlns:p14="http://schemas.microsoft.com/office/powerpoint/2010/main" val="986464874"/>
              </p:ext>
            </p:extLst>
          </p:nvPr>
        </p:nvGraphicFramePr>
        <p:xfrm>
          <a:off x="4381805" y="2058608"/>
          <a:ext cx="7163751" cy="2832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F468D78-E570-C44F-942D-4D019AFB2785}"/>
              </a:ext>
            </a:extLst>
          </p:cNvPr>
          <p:cNvSpPr txBox="1"/>
          <p:nvPr/>
        </p:nvSpPr>
        <p:spPr>
          <a:xfrm>
            <a:off x="5903842" y="340856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+38%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0B637-91B7-FE40-B028-FE21DE7ABAAB}"/>
              </a:ext>
            </a:extLst>
          </p:cNvPr>
          <p:cNvSpPr txBox="1"/>
          <p:nvPr/>
        </p:nvSpPr>
        <p:spPr>
          <a:xfrm>
            <a:off x="7143445" y="3091282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+109%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8A086B-A5CE-624A-AADC-AED85904C9A2}"/>
              </a:ext>
            </a:extLst>
          </p:cNvPr>
          <p:cNvSpPr txBox="1"/>
          <p:nvPr/>
        </p:nvSpPr>
        <p:spPr>
          <a:xfrm>
            <a:off x="8509550" y="2533896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+32%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6D9C7D-7459-5B4B-906C-6AB40BD60398}"/>
              </a:ext>
            </a:extLst>
          </p:cNvPr>
          <p:cNvSpPr txBox="1"/>
          <p:nvPr/>
        </p:nvSpPr>
        <p:spPr>
          <a:xfrm>
            <a:off x="9812465" y="2028749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ru-KZ" sz="1000" dirty="0">
                <a:solidFill>
                  <a:srgbClr val="009845"/>
                </a:solidFill>
                <a:latin typeface="Montserrat"/>
              </a:rPr>
              <a:t>+31%</a:t>
            </a:r>
          </a:p>
        </p:txBody>
      </p:sp>
    </p:spTree>
    <p:extLst>
      <p:ext uri="{BB962C8B-B14F-4D97-AF65-F5344CB8AC3E}">
        <p14:creationId xmlns:p14="http://schemas.microsoft.com/office/powerpoint/2010/main" val="90404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571500" y="381305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524305"/>
            <a:ext cx="5352898" cy="3448202"/>
          </a:xfrm>
          <a:prstGeom prst="roundRect">
            <a:avLst>
              <a:gd name="adj" fmla="val 71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86500" y="1524305"/>
            <a:ext cx="5352898" cy="3448202"/>
          </a:xfrm>
          <a:prstGeom prst="roundRect">
            <a:avLst>
              <a:gd name="adj" fmla="val 871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5477256"/>
            <a:ext cx="3590849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5477256"/>
            <a:ext cx="28346" cy="780898"/>
          </a:xfrm>
          <a:prstGeom prst="roundRect">
            <a:avLst>
              <a:gd name="adj" fmla="val 157359"/>
            </a:avLst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15054" y="5477256"/>
            <a:ext cx="3590849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15054" y="5477256"/>
            <a:ext cx="28346" cy="780898"/>
          </a:xfrm>
          <a:prstGeom prst="roundRect">
            <a:avLst>
              <a:gd name="adj" fmla="val 157359"/>
            </a:avLst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58607" y="5477256"/>
            <a:ext cx="3600907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58607" y="5477256"/>
            <a:ext cx="28346" cy="780898"/>
          </a:xfrm>
          <a:prstGeom prst="roundRect">
            <a:avLst>
              <a:gd name="adj" fmla="val 157359"/>
            </a:avLst>
          </a:prstGeom>
          <a:solidFill>
            <a:srgbClr val="009845"/>
          </a:solidFill>
          <a:ln w="12700">
            <a:solidFill>
              <a:srgbClr val="009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rcRect/>
          <a:stretch/>
        </p:blipFill>
        <p:spPr>
          <a:xfrm>
            <a:off x="4356661" y="3458719"/>
            <a:ext cx="1394459" cy="1394459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alphaModFix amt="8000"/>
          </a:blip>
          <a:srcRect/>
          <a:stretch/>
        </p:blipFill>
        <p:spPr>
          <a:xfrm>
            <a:off x="10107776" y="3458719"/>
            <a:ext cx="1433780" cy="143378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857707" y="2523744"/>
            <a:ext cx="4762195" cy="9144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6572707" y="2523744"/>
            <a:ext cx="4762195" cy="9144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 t="-504" b="-504"/>
          <a:stretch/>
        </p:blipFill>
        <p:spPr>
          <a:xfrm>
            <a:off x="571500" y="5191049"/>
            <a:ext cx="28346" cy="1527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71500" y="555955"/>
            <a:ext cx="11239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Альтернативное лицензирование Qlik Sense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571500" y="1004011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Capacity</a:t>
            </a:r>
            <a:r>
              <a:rPr lang="ru-RU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ru-RU" sz="14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kern="0" spc="-37" dirty="0">
                <a:solidFill>
                  <a:schemeClr val="bg1">
                    <a:lumMod val="50000"/>
                  </a:scheme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QAP</a:t>
            </a:r>
            <a:endParaRPr lang="en-US" sz="1300" dirty="0">
              <a:solidFill>
                <a:schemeClr val="bg1">
                  <a:lumMod val="50000"/>
                </a:schemeClr>
              </a:solidFill>
              <a:latin typeface="Montserrat" pitchFamily="2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1824228"/>
            <a:ext cx="190195" cy="19019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90549" y="1809598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Capacity Licensing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857707" y="2124151"/>
            <a:ext cx="2774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за </a:t>
            </a:r>
            <a:r>
              <a:rPr lang="en-US" sz="900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пакет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(50,000 </a:t>
            </a:r>
            <a:r>
              <a:rPr lang="en-US" sz="900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минут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) </a:t>
            </a:r>
            <a:r>
              <a:rPr lang="en-US" sz="900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месяц</a:t>
            </a:r>
            <a:endParaRPr lang="en-US" sz="900" dirty="0">
              <a:solidFill>
                <a:srgbClr val="888888"/>
              </a:solidFill>
              <a:latin typeface="Montserrat" pitchFamily="2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3459175" y="1785823"/>
            <a:ext cx="216072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62</a:t>
            </a:r>
            <a:r>
              <a:rPr lang="en-US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,</a:t>
            </a:r>
            <a:r>
              <a:rPr lang="ru-RU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315</a:t>
            </a:r>
            <a:r>
              <a:rPr lang="en-US" sz="3000" b="1" kern="0" spc="-75" dirty="0">
                <a:solidFill>
                  <a:srgbClr val="00984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€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3539642" y="2190902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≈ </a:t>
            </a:r>
            <a:r>
              <a:rPr lang="ru-RU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34</a:t>
            </a:r>
            <a:r>
              <a:rPr lang="en-US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млн 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1162202" y="2999232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Неограниченное кол-во пользователей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6" name="Text 17"/>
          <p:cNvSpPr txBox="1"/>
          <p:nvPr/>
        </p:nvSpPr>
        <p:spPr>
          <a:xfrm>
            <a:off x="1162202" y="3317443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Отлично подходит для SSBI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1162202" y="3635654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Возможность встраивать в платформы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1162202" y="3953866"/>
            <a:ext cx="45345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Пакет минут обновляется каждый месяц — неиспользованные минуты не переносятся</a:t>
            </a:r>
            <a:endParaRPr lang="en-US" sz="1100" dirty="0">
              <a:latin typeface="Montserrat" pitchFamily="2" charset="0"/>
            </a:endParaRPr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857707" y="3056839"/>
            <a:ext cx="190195" cy="152705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75995" y="3375050"/>
            <a:ext cx="152705" cy="152705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895198" y="3692347"/>
            <a:ext cx="114300" cy="152705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886054" y="4010558"/>
            <a:ext cx="133502" cy="152705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72707" y="1824228"/>
            <a:ext cx="190195" cy="19019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905549" y="1861718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QAP (Analytics Platform)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6572707" y="2124151"/>
            <a:ext cx="27742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 лицензии в год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9174175" y="1785823"/>
            <a:ext cx="216072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kern="0" spc="-75" dirty="0">
                <a:solidFill>
                  <a:srgbClr val="00B9CC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70,000 €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7" name="Text 23"/>
          <p:cNvSpPr txBox="1"/>
          <p:nvPr/>
        </p:nvSpPr>
        <p:spPr>
          <a:xfrm>
            <a:off x="9254642" y="2190902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≈ 40 млн 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8" name="Text 24"/>
          <p:cNvSpPr txBox="1"/>
          <p:nvPr/>
        </p:nvSpPr>
        <p:spPr>
          <a:xfrm>
            <a:off x="6877202" y="3040380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Дает доступ к пользователям из внешних ресурсов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9" name="Text 25"/>
          <p:cNvSpPr txBox="1"/>
          <p:nvPr/>
        </p:nvSpPr>
        <p:spPr>
          <a:xfrm>
            <a:off x="6877202" y="3358591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Неограниченное кол-во пользователей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0" name="Text 26"/>
          <p:cNvSpPr txBox="1"/>
          <p:nvPr/>
        </p:nvSpPr>
        <p:spPr>
          <a:xfrm>
            <a:off x="6877202" y="3676802"/>
            <a:ext cx="45729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Возможность встраивать в платформы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1" name="Text 27"/>
          <p:cNvSpPr txBox="1"/>
          <p:nvPr/>
        </p:nvSpPr>
        <p:spPr>
          <a:xfrm>
            <a:off x="6572707" y="4529213"/>
            <a:ext cx="47621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00" i="1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* </a:t>
            </a:r>
            <a:r>
              <a:rPr lang="en-US" sz="900" i="1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 для внешних пользователей. Не применим для внутренних сотрудников банка.</a:t>
            </a:r>
            <a:endParaRPr lang="en-US" sz="900" i="1" dirty="0">
              <a:solidFill>
                <a:schemeClr val="bg1">
                  <a:lumMod val="75000"/>
                </a:schemeClr>
              </a:solidFill>
              <a:latin typeface="Montserrat" pitchFamily="2" charset="0"/>
            </a:endParaRPr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90995" y="3097987"/>
            <a:ext cx="152705" cy="152705"/>
          </a:xfrm>
          <a:prstGeom prst="rect">
            <a:avLst/>
          </a:prstGeom>
        </p:spPr>
      </p:pic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6572707" y="3415284"/>
            <a:ext cx="190195" cy="152705"/>
          </a:xfrm>
          <a:prstGeom prst="rect">
            <a:avLst/>
          </a:prstGeom>
        </p:spPr>
      </p:pic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6"/>
          <a:srcRect t="-100" b="-100"/>
          <a:stretch/>
        </p:blipFill>
        <p:spPr>
          <a:xfrm>
            <a:off x="6610198" y="3733495"/>
            <a:ext cx="114300" cy="152705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714146" y="5176418"/>
            <a:ext cx="4877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Результаты пилота Capacity (март 2026)</a:t>
            </a:r>
            <a:endParaRPr lang="en-US" sz="1200" dirty="0">
              <a:latin typeface="Montserrat" pitchFamily="2" charset="0"/>
            </a:endParaRPr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61695" y="5682082"/>
            <a:ext cx="190195" cy="190195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1095451" y="5666537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 пакета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8" name="Text 30"/>
          <p:cNvSpPr txBox="1"/>
          <p:nvPr/>
        </p:nvSpPr>
        <p:spPr>
          <a:xfrm>
            <a:off x="1095451" y="5877763"/>
            <a:ext cx="30861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62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,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315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€/год за 50,000 минут (≈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34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млн ₸)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505249" y="5682082"/>
            <a:ext cx="237744" cy="190195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4839005" y="5666537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Потребление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1" name="Text 32"/>
          <p:cNvSpPr txBox="1"/>
          <p:nvPr/>
        </p:nvSpPr>
        <p:spPr>
          <a:xfrm>
            <a:off x="4839005" y="5877763"/>
            <a:ext cx="2971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19 пользователей: ~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285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мин/день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248802" y="5682082"/>
            <a:ext cx="142646" cy="190195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8581644" y="5666537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Итоговый объем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4" name="Text 34"/>
          <p:cNvSpPr txBox="1"/>
          <p:nvPr/>
        </p:nvSpPr>
        <p:spPr>
          <a:xfrm>
            <a:off x="8581644" y="5877763"/>
            <a:ext cx="2971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</a:t>
            </a:r>
            <a:r>
              <a:rPr lang="ru-RU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6000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мин/мес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5" name="Text 35"/>
          <p:cNvSpPr txBox="1"/>
          <p:nvPr/>
        </p:nvSpPr>
        <p:spPr>
          <a:xfrm>
            <a:off x="571500" y="6491326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6" name="Text 36"/>
          <p:cNvSpPr txBox="1"/>
          <p:nvPr/>
        </p:nvSpPr>
        <p:spPr>
          <a:xfrm>
            <a:off x="9441180" y="6486754"/>
            <a:ext cx="2179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9845">
                    <a:alpha val="80000"/>
                  </a:srgbClr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1000" dirty="0">
              <a:latin typeface="Montserrat" pitchFamily="2" charset="0"/>
            </a:endParaRPr>
          </a:p>
        </p:txBody>
      </p:sp>
      <p:pic>
        <p:nvPicPr>
          <p:cNvPr id="57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F539336E-BC33-AC23-D214-46E8C2004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502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3">
            <a:extLst>
              <a:ext uri="{FF2B5EF4-FFF2-40B4-BE49-F238E27FC236}">
                <a16:creationId xmlns:a16="http://schemas.microsoft.com/office/drawing/2014/main" id="{0D8DBF5B-0EC5-3CD6-A655-DDC93A436210}"/>
              </a:ext>
            </a:extLst>
          </p:cNvPr>
          <p:cNvSpPr/>
          <p:nvPr/>
        </p:nvSpPr>
        <p:spPr>
          <a:xfrm>
            <a:off x="6153455" y="1542593"/>
            <a:ext cx="5697914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B9D6916B-A8A6-C2FB-BC0C-59446A8A1299}"/>
              </a:ext>
            </a:extLst>
          </p:cNvPr>
          <p:cNvSpPr/>
          <p:nvPr/>
        </p:nvSpPr>
        <p:spPr>
          <a:xfrm>
            <a:off x="473389" y="1542594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286207"/>
            <a:ext cx="571500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428854"/>
            <a:ext cx="11735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 затрат за счёт частичного перехода на Capacity Licensing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71500" y="905256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Оптимизация лицензий Qlik Sense для снижения операционных расходов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47649" y="1676095"/>
            <a:ext cx="381305" cy="381305"/>
          </a:xfrm>
          <a:prstGeom prst="ellipse">
            <a:avLst/>
          </a:prstGeom>
          <a:solidFill>
            <a:srgbClr val="00984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929030" y="1781251"/>
            <a:ext cx="219456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43254" y="1695298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Текущая ситуация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343254" y="1876349"/>
            <a:ext cx="20647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Анализ использования лицензий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82726" y="2295144"/>
            <a:ext cx="1759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7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566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14730" y="2686507"/>
            <a:ext cx="169438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активных</a:t>
            </a:r>
            <a:endParaRPr lang="en-US" sz="8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пользователей</a:t>
            </a:r>
            <a:endParaRPr lang="en-US" sz="800" dirty="0">
              <a:latin typeface="Montserrat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D72F683-D97E-B99C-08CE-5BACC5FD9F9A}"/>
              </a:ext>
            </a:extLst>
          </p:cNvPr>
          <p:cNvGrpSpPr/>
          <p:nvPr/>
        </p:nvGrpSpPr>
        <p:grpSpPr>
          <a:xfrm>
            <a:off x="3971882" y="2291715"/>
            <a:ext cx="1759306" cy="676199"/>
            <a:chOff x="2420417" y="2295144"/>
            <a:chExt cx="1759306" cy="676199"/>
          </a:xfrm>
        </p:grpSpPr>
        <p:sp>
          <p:nvSpPr>
            <p:cNvPr id="14" name="Text 10"/>
            <p:cNvSpPr txBox="1"/>
            <p:nvPr/>
          </p:nvSpPr>
          <p:spPr>
            <a:xfrm>
              <a:off x="2420417" y="2295144"/>
              <a:ext cx="1759306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000000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+250</a:t>
              </a:r>
              <a:endParaRPr lang="en-US" sz="2700" dirty="0">
                <a:latin typeface="Montserrat" pitchFamily="2" charset="0"/>
              </a:endParaRPr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2449220" y="2685136"/>
              <a:ext cx="1694383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потребность</a:t>
              </a:r>
              <a:endParaRPr lang="en-US" sz="800" dirty="0">
                <a:latin typeface="Montserrat" pitchFamily="2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2026</a:t>
              </a:r>
              <a:endParaRPr lang="en-US" sz="800" dirty="0">
                <a:latin typeface="Montserrat" pitchFamily="2" charset="0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D788ED5-DF34-0FA5-D306-FE767DCCFDEA}"/>
              </a:ext>
            </a:extLst>
          </p:cNvPr>
          <p:cNvGrpSpPr/>
          <p:nvPr/>
        </p:nvGrpSpPr>
        <p:grpSpPr>
          <a:xfrm>
            <a:off x="2417538" y="2295144"/>
            <a:ext cx="1759306" cy="677570"/>
            <a:chOff x="4059022" y="2295144"/>
            <a:chExt cx="1759306" cy="677570"/>
          </a:xfrm>
        </p:grpSpPr>
        <p:sp>
          <p:nvSpPr>
            <p:cNvPr id="16" name="Text 12"/>
            <p:cNvSpPr txBox="1"/>
            <p:nvPr/>
          </p:nvSpPr>
          <p:spPr>
            <a:xfrm>
              <a:off x="4059022" y="2295144"/>
              <a:ext cx="1759306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2700" b="1" dirty="0">
                  <a:solidFill>
                    <a:schemeClr val="accent2"/>
                  </a:solidFill>
                  <a:latin typeface="Montserrat" pitchFamily="2" charset="0"/>
                </a:rPr>
                <a:t>227</a:t>
              </a:r>
              <a:endParaRPr lang="en-US" sz="2700" dirty="0">
                <a:solidFill>
                  <a:schemeClr val="accent2"/>
                </a:solidFill>
                <a:latin typeface="Montserrat" pitchFamily="2" charset="0"/>
              </a:endParaRPr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4091940" y="2686507"/>
              <a:ext cx="1694383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 низкой</a:t>
              </a:r>
              <a:endParaRPr lang="en-US" sz="800" dirty="0">
                <a:latin typeface="Montserrat" pitchFamily="2" charset="0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интенсивностью</a:t>
              </a:r>
              <a:endParaRPr lang="en-US" sz="800" dirty="0">
                <a:latin typeface="Montserrat" pitchFamily="2" charset="0"/>
              </a:endParaRPr>
            </a:p>
          </p:txBody>
        </p:sp>
      </p:grpSp>
      <p:sp>
        <p:nvSpPr>
          <p:cNvPr id="18" name="Shape 14"/>
          <p:cNvSpPr/>
          <p:nvPr/>
        </p:nvSpPr>
        <p:spPr>
          <a:xfrm>
            <a:off x="847649" y="3219602"/>
            <a:ext cx="4905756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009498" y="3323844"/>
            <a:ext cx="4819802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Среднее потребление: </a:t>
            </a:r>
            <a:r>
              <a:rPr lang="ru-RU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15</a:t>
            </a: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мин</a:t>
            </a: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/</a:t>
            </a:r>
            <a:r>
              <a:rPr lang="ru-RU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день</a:t>
            </a: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649" y="3346704"/>
            <a:ext cx="105156" cy="10515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97727" y="1740373"/>
            <a:ext cx="381305" cy="381305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592825" y="1845529"/>
            <a:ext cx="190195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93332" y="1759576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6993331" y="1940627"/>
            <a:ext cx="2206447" cy="17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Финансовый эффект перехода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6497727" y="2311873"/>
            <a:ext cx="1448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Текущая стоимость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6497727" y="2473722"/>
            <a:ext cx="147218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b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58 </a:t>
            </a:r>
            <a:r>
              <a:rPr lang="en-US" sz="1800" b="1" dirty="0" err="1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млн</a:t>
            </a:r>
            <a:r>
              <a:rPr lang="en-US" sz="1800" b="1" dirty="0">
                <a:solidFill>
                  <a:srgbClr val="666666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₸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6497726" y="2769072"/>
            <a:ext cx="202327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227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обычных лицензий × 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464 евро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9047074" y="2514870"/>
            <a:ext cx="152705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231222" y="2311873"/>
            <a:ext cx="117317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Стоимость Capacity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10128738" y="2473722"/>
            <a:ext cx="12756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34</a:t>
            </a:r>
            <a:r>
              <a:rPr lang="en-US" sz="18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млн ₸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9639606" y="2782928"/>
            <a:ext cx="1764792" cy="14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0,000 мин/</a:t>
            </a:r>
            <a:r>
              <a:rPr lang="en-US" sz="800" dirty="0" err="1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мес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= 62.5 </a:t>
            </a:r>
            <a:r>
              <a:rPr lang="ru-RU" sz="800" dirty="0" err="1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тыс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евро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6497726" y="3215030"/>
            <a:ext cx="4905756" cy="91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497727" y="3303083"/>
            <a:ext cx="28181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</a:t>
            </a:r>
            <a:r>
              <a:rPr lang="ru-RU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en-US" sz="15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4 млн ₸/год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9730131" y="3346060"/>
            <a:ext cx="189097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Покрытие </a:t>
            </a:r>
            <a:r>
              <a:rPr lang="en-US" sz="800" dirty="0" err="1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до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230 </a:t>
            </a:r>
            <a:r>
              <a:rPr lang="en-US" sz="8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пользователей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847649" y="3840236"/>
            <a:ext cx="381305" cy="381305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2805" y="3944477"/>
            <a:ext cx="171907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43254" y="3859438"/>
            <a:ext cx="23280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Мониторинг и управление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8" name="Text 29"/>
          <p:cNvSpPr txBox="1"/>
          <p:nvPr/>
        </p:nvSpPr>
        <p:spPr>
          <a:xfrm>
            <a:off x="1343254" y="4039575"/>
            <a:ext cx="23280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Контроль потребления ресурсов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373331"/>
            <a:ext cx="85954" cy="95098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009498" y="4334926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Контроль потребления минут через License Monitor в реальном времени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580900"/>
            <a:ext cx="85954" cy="9509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009498" y="4542495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Установка лимитов минут на пользователя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788469"/>
            <a:ext cx="85954" cy="9509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09498" y="4750064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Оповещения при приближении к лимиту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47649" y="4996037"/>
            <a:ext cx="85954" cy="95098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009498" y="4957633"/>
            <a:ext cx="4858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Автоматическое управление доступом при превышении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7" name="Text 34"/>
          <p:cNvSpPr txBox="1"/>
          <p:nvPr/>
        </p:nvSpPr>
        <p:spPr>
          <a:xfrm>
            <a:off x="1019556" y="5468782"/>
            <a:ext cx="48481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Пакет минут обновляется каждый месяц 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7649" y="5492557"/>
            <a:ext cx="114300" cy="114300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6497727" y="3836607"/>
            <a:ext cx="381305" cy="381305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02883" y="3940848"/>
            <a:ext cx="171907" cy="171907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6993332" y="3855809"/>
            <a:ext cx="1858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Следующие шаги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6993332" y="4035946"/>
            <a:ext cx="19229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План реализации оптимизации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3"/>
          <a:srcRect l="-8400" r="-8400"/>
          <a:stretch/>
        </p:blipFill>
        <p:spPr>
          <a:xfrm>
            <a:off x="6497727" y="4451084"/>
            <a:ext cx="133502" cy="114300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6726327" y="4431881"/>
            <a:ext cx="21378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Проведение пилота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— 2–3 месяца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4"/>
          <a:srcRect l="-27867" r="-27867"/>
          <a:stretch/>
        </p:blipFill>
        <p:spPr>
          <a:xfrm>
            <a:off x="6497727" y="4755579"/>
            <a:ext cx="133502" cy="114300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6726327" y="4736376"/>
            <a:ext cx="3543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Анкетирование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пользователей перед выдачей лицензий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5"/>
          <a:srcRect l="-8400" r="-8400"/>
          <a:stretch/>
        </p:blipFill>
        <p:spPr>
          <a:xfrm>
            <a:off x="6497727" y="5060074"/>
            <a:ext cx="133502" cy="114300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6726326" y="5040872"/>
            <a:ext cx="2589581" cy="17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Фиксация паттернов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потребления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6"/>
          <a:srcRect l="-27867" r="-27867"/>
          <a:stretch/>
        </p:blipFill>
        <p:spPr>
          <a:xfrm>
            <a:off x="6497727" y="5365484"/>
            <a:ext cx="133502" cy="114300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6726327" y="5346281"/>
            <a:ext cx="3543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Расчёт оптимального объёма</a:t>
            </a:r>
            <a:r>
              <a:rPr lang="en-US" sz="9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закупа по итогам пилота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1" name="Text 42"/>
          <p:cNvSpPr txBox="1"/>
          <p:nvPr/>
        </p:nvSpPr>
        <p:spPr>
          <a:xfrm>
            <a:off x="571500" y="6381598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2" name="Text 43"/>
          <p:cNvSpPr txBox="1"/>
          <p:nvPr/>
        </p:nvSpPr>
        <p:spPr>
          <a:xfrm>
            <a:off x="9639605" y="6381598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845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FlowBG"/>
          <p:cNvSpPr/>
          <p:nvPr/>
        </p:nvSpPr>
        <p:spPr>
          <a:xfrm>
            <a:off x="589934" y="3429000"/>
            <a:ext cx="4775200" cy="2349500"/>
          </a:xfrm>
          <a:prstGeom prst="roundRect">
            <a:avLst>
              <a:gd name="adj" fmla="val 8000"/>
            </a:avLst>
          </a:prstGeom>
          <a:solidFill>
            <a:srgbClr val="F8FAF8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endParaRPr lang="en-US" sz="2000" dirty="0"/>
          </a:p>
        </p:txBody>
      </p:sp>
      <p:pic>
        <p:nvPicPr>
          <p:cNvPr id="2" name="Copied Picture 2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286207"/>
            <a:ext cx="571500" cy="38405"/>
          </a:xfrm>
          <a:prstGeom prst="rect">
            <a:avLst/>
          </a:prstGeom>
        </p:spPr>
      </p:pic>
      <p:pic>
        <p:nvPicPr>
          <p:cNvPr id="3" name="Copied Picture 3" descr="JSC Halyk Bank logo in transparent PNG and vectorized SVG formats">
            <a:extLst>
              <a:ext uri="{FF2B5EF4-FFF2-40B4-BE49-F238E27FC236}">
                <a16:creationId xmlns:a16="http://schemas.microsoft.com/office/drawing/2014/main" id="{314D2C80-5F14-2C5D-AE7F-9DE47067D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"/>
          <p:cNvSpPr/>
          <p:nvPr/>
        </p:nvSpPr>
        <p:spPr>
          <a:xfrm>
            <a:off x="571500" y="5207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00000"/>
                </a:solidFill>
                <a:latin typeface="Montserrat" pitchFamily="2" charset="0"/>
              </a:rPr>
              <a:t>Self-Service BI: конструктор отчётов</a:t>
            </a:r>
          </a:p>
        </p:txBody>
      </p:sp>
      <p:sp>
        <p:nvSpPr>
          <p:cNvPr id="11" name="Subtitle"/>
          <p:cNvSpPr/>
          <p:nvPr/>
        </p:nvSpPr>
        <p:spPr>
          <a:xfrm>
            <a:off x="571500" y="1003300"/>
            <a:ext cx="10591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</a:rPr>
              <a:t>Текущий статус и планы развития платформы самостоятельной аналитики на базе Qlik Sense</a:t>
            </a:r>
          </a:p>
        </p:txBody>
      </p:sp>
      <p:sp>
        <p:nvSpPr>
          <p:cNvPr id="106" name="Divider"/>
          <p:cNvSpPr/>
          <p:nvPr/>
        </p:nvSpPr>
        <p:spPr>
          <a:xfrm>
            <a:off x="5842000" y="1460500"/>
            <a:ext cx="12700" cy="476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3" name="NowHeader"/>
          <p:cNvSpPr/>
          <p:nvPr/>
        </p:nvSpPr>
        <p:spPr>
          <a:xfrm>
            <a:off x="6159500" y="14605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9845"/>
                </a:solidFill>
                <a:latin typeface="Montserrat" pitchFamily="2" charset="0"/>
              </a:rPr>
              <a:t>ПОДКЛЮЧЁННЫЕ ИНФОРМАЦИОННЫЕ СИСТЕМЫ</a:t>
            </a:r>
          </a:p>
        </p:txBody>
      </p:sp>
      <p:sp>
        <p:nvSpPr>
          <p:cNvPr id="14" name="NowList"/>
          <p:cNvSpPr/>
          <p:nvPr/>
        </p:nvSpPr>
        <p:spPr>
          <a:xfrm>
            <a:off x="6159500" y="1778000"/>
            <a:ext cx="5461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 algn="l">
              <a:buFont typeface="Wingdings"/>
              <a:buChar char="ü"/>
            </a:pPr>
            <a:r>
              <a:rPr lang="en-US" sz="1200" dirty="0">
                <a:solidFill>
                  <a:srgbClr val="444444"/>
                </a:solidFill>
                <a:latin typeface="Montserrat" pitchFamily="2" charset="0"/>
              </a:rPr>
              <a:t>Кредиты</a:t>
            </a:r>
          </a:p>
          <a:p>
            <a:pPr marL="228600" indent="-228600" algn="l">
              <a:buFont typeface="Wingdings"/>
              <a:buChar char="ü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Депозиты 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marL="228600" indent="-228600">
              <a:buFont typeface="Wingdings"/>
              <a:buChar char="ü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Залоги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algn="l"/>
            <a:endParaRPr lang="en-US" sz="1200" dirty="0">
              <a:solidFill>
                <a:srgbClr val="999999"/>
              </a:solidFill>
              <a:latin typeface="Montserrat" pitchFamily="2" charset="0"/>
            </a:endParaRPr>
          </a:p>
        </p:txBody>
      </p:sp>
      <p:sp>
        <p:nvSpPr>
          <p:cNvPr id="107" name="HorzSep"/>
          <p:cNvSpPr/>
          <p:nvPr/>
        </p:nvSpPr>
        <p:spPr>
          <a:xfrm>
            <a:off x="6159500" y="3048000"/>
            <a:ext cx="5461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5" name="PlanHeader"/>
          <p:cNvSpPr/>
          <p:nvPr/>
        </p:nvSpPr>
        <p:spPr>
          <a:xfrm>
            <a:off x="6159500" y="32385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030A0"/>
                </a:solidFill>
                <a:latin typeface="Montserrat" pitchFamily="2" charset="0"/>
              </a:rPr>
              <a:t>ПЛАНЫ РАСШИРЕНИЯ</a:t>
            </a:r>
          </a:p>
        </p:txBody>
      </p:sp>
      <p:sp>
        <p:nvSpPr>
          <p:cNvPr id="16" name="PlanDesc"/>
          <p:cNvSpPr/>
          <p:nvPr/>
        </p:nvSpPr>
        <p:spPr>
          <a:xfrm>
            <a:off x="6159500" y="35306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Montserrat" pitchFamily="2" charset="0"/>
              </a:rPr>
              <a:t>Покрытие всех ключевых информационных систем банка:</a:t>
            </a:r>
          </a:p>
        </p:txBody>
      </p:sp>
      <p:sp>
        <p:nvSpPr>
          <p:cNvPr id="17" name="PlanList"/>
          <p:cNvSpPr/>
          <p:nvPr/>
        </p:nvSpPr>
        <p:spPr>
          <a:xfrm>
            <a:off x="6159500" y="4038600"/>
            <a:ext cx="5461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Кредитные карточки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Кредитные линии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pPr marL="228600" indent="-228600">
              <a:buFont typeface="Arial"/>
              <a:buChar char="○"/>
            </a:pPr>
            <a:r>
              <a:rPr lang="en-US" sz="1200" dirty="0" err="1">
                <a:solidFill>
                  <a:srgbClr val="444444"/>
                </a:solidFill>
                <a:latin typeface="Montserrat" pitchFamily="2" charset="0"/>
              </a:rPr>
              <a:t>Текущие</a:t>
            </a:r>
            <a:r>
              <a:rPr lang="en-US" sz="1200" dirty="0">
                <a:solidFill>
                  <a:srgbClr val="444444"/>
                </a:solidFill>
                <a:latin typeface="Montserrat" pitchFamily="2" charset="0"/>
              </a:rPr>
              <a:t> счета</a:t>
            </a: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Торговые операции</a:t>
            </a: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Казначейские операции</a:t>
            </a:r>
          </a:p>
          <a:p>
            <a:pPr marL="228600" indent="-228600">
              <a:buFont typeface="Arial"/>
              <a:buChar char="○"/>
            </a:pPr>
            <a:r>
              <a:rPr lang="ru-RU" sz="1200" dirty="0">
                <a:solidFill>
                  <a:srgbClr val="444444"/>
                </a:solidFill>
                <a:latin typeface="Montserrat" pitchFamily="2" charset="0"/>
              </a:rPr>
              <a:t>Транзакции</a:t>
            </a:r>
            <a:endParaRPr lang="en-US" sz="1200" dirty="0">
              <a:solidFill>
                <a:srgbClr val="444444"/>
              </a:solidFill>
              <a:latin typeface="Montserrat" pitchFamily="2" charset="0"/>
            </a:endParaRPr>
          </a:p>
          <a:p>
            <a:endParaRPr lang="ru-RU" sz="1200" dirty="0">
              <a:solidFill>
                <a:srgbClr val="444444"/>
              </a:solidFill>
              <a:latin typeface="Montserrat" pitchFamily="2" charset="0"/>
            </a:endParaRPr>
          </a:p>
          <a:p>
            <a:endParaRPr lang="ru-RU" sz="1200" dirty="0">
              <a:solidFill>
                <a:srgbClr val="444444"/>
              </a:solidFill>
              <a:latin typeface="Montserrat" pitchFamily="2" charset="0"/>
            </a:endParaRPr>
          </a:p>
          <a:p>
            <a:endParaRPr lang="ru-RU" sz="1200" dirty="0">
              <a:solidFill>
                <a:srgbClr val="444444"/>
              </a:solidFill>
              <a:latin typeface="Montserrat" pitchFamily="2" charset="0"/>
            </a:endParaRPr>
          </a:p>
        </p:txBody>
      </p:sp>
      <p:sp>
        <p:nvSpPr>
          <p:cNvPr id="18" name="Note"/>
          <p:cNvSpPr/>
          <p:nvPr/>
        </p:nvSpPr>
        <p:spPr>
          <a:xfrm>
            <a:off x="6159500" y="58166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Montserrat" pitchFamily="2" charset="0"/>
              </a:rPr>
              <a:t>*Цель — предоставить бизнес-пользователям инструмент для самостоятельного построения отчётов без участия BI-команды</a:t>
            </a:r>
          </a:p>
        </p:txBody>
      </p:sp>
      <p:sp>
        <p:nvSpPr>
          <p:cNvPr id="20" name="FooterRight"/>
          <p:cNvSpPr/>
          <p:nvPr/>
        </p:nvSpPr>
        <p:spPr>
          <a:xfrm>
            <a:off x="9639300" y="6540500"/>
            <a:ext cx="19812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</a:rPr>
              <a:t>Qlik Sense Review</a:t>
            </a:r>
          </a:p>
        </p:txBody>
      </p:sp>
      <p:pic>
        <p:nvPicPr>
          <p:cNvPr id="108" name="Graphic 108" descr="Бизнес-пользователь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34" y="4064000"/>
            <a:ext cx="596900" cy="635000"/>
          </a:xfrm>
          <a:prstGeom prst="rect">
            <a:avLst/>
          </a:prstGeom>
        </p:spPr>
      </p:pic>
      <p:pic>
        <p:nvPicPr>
          <p:cNvPr id="109" name="Graphic 109" descr="Конструктор отчётов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4934" y="4064000"/>
            <a:ext cx="596900" cy="635000"/>
          </a:xfrm>
          <a:prstGeom prst="rect">
            <a:avLst/>
          </a:prstGeom>
        </p:spPr>
      </p:pic>
      <p:pic>
        <p:nvPicPr>
          <p:cNvPr id="110" name="Graphic 110" descr="Готовый отчёт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7034" y="4064000"/>
            <a:ext cx="596900" cy="635000"/>
          </a:xfrm>
          <a:prstGeom prst="rect">
            <a:avLst/>
          </a:prstGeom>
        </p:spPr>
      </p:pic>
      <p:sp>
        <p:nvSpPr>
          <p:cNvPr id="300" name="FlowTitle"/>
          <p:cNvSpPr/>
          <p:nvPr/>
        </p:nvSpPr>
        <p:spPr>
          <a:xfrm>
            <a:off x="678834" y="3227614"/>
            <a:ext cx="1206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100" b="1" kern="0" spc="-37" dirty="0">
                <a:solidFill>
                  <a:srgbClr val="000000"/>
                </a:solidFill>
                <a:latin typeface="Montserrat" pitchFamily="2" charset="0"/>
              </a:rPr>
              <a:t>SELF-SERVICE BI</a:t>
            </a:r>
            <a:endParaRPr lang="en-US" sz="1100" b="1" dirty="0">
              <a:solidFill>
                <a:srgbClr val="333333"/>
              </a:solidFill>
              <a:latin typeface="Montserrat" pitchFamily="2" charset="0"/>
            </a:endParaRPr>
          </a:p>
        </p:txBody>
      </p:sp>
      <p:sp>
        <p:nvSpPr>
          <p:cNvPr id="310" name="Label1"/>
          <p:cNvSpPr/>
          <p:nvPr/>
        </p:nvSpPr>
        <p:spPr>
          <a:xfrm>
            <a:off x="678834" y="4762500"/>
            <a:ext cx="107442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</a:rPr>
              <a:t>Пользователь</a:t>
            </a:r>
          </a:p>
          <a:p>
            <a:pPr algn="ctr">
              <a:buNone/>
            </a:pPr>
            <a:r>
              <a:rPr lang="en-US" sz="800" dirty="0">
                <a:solidFill>
                  <a:srgbClr val="888888"/>
                </a:solidFill>
                <a:latin typeface="Montserrat" pitchFamily="2" charset="0"/>
              </a:rPr>
              <a:t>бизнес-аналитик</a:t>
            </a:r>
          </a:p>
        </p:txBody>
      </p:sp>
      <p:sp>
        <p:nvSpPr>
          <p:cNvPr id="311" name="Label2"/>
          <p:cNvSpPr/>
          <p:nvPr/>
        </p:nvSpPr>
        <p:spPr>
          <a:xfrm>
            <a:off x="2202834" y="4762500"/>
            <a:ext cx="1146048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</a:rPr>
              <a:t>Конструктор</a:t>
            </a:r>
          </a:p>
          <a:p>
            <a:pPr algn="ctr">
              <a:buNone/>
            </a:pPr>
            <a:r>
              <a:rPr lang="en-US" sz="800" dirty="0">
                <a:solidFill>
                  <a:srgbClr val="888888"/>
                </a:solidFill>
                <a:latin typeface="Montserrat" pitchFamily="2" charset="0"/>
              </a:rPr>
              <a:t>drag &amp; drop</a:t>
            </a:r>
          </a:p>
        </p:txBody>
      </p:sp>
      <p:sp>
        <p:nvSpPr>
          <p:cNvPr id="312" name="Label3"/>
          <p:cNvSpPr/>
          <p:nvPr/>
        </p:nvSpPr>
        <p:spPr>
          <a:xfrm>
            <a:off x="3803034" y="4762500"/>
            <a:ext cx="107442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2" charset="0"/>
              </a:rPr>
              <a:t>Готовый отчёт</a:t>
            </a:r>
          </a:p>
          <a:p>
            <a:pPr algn="ctr">
              <a:buNone/>
            </a:pPr>
            <a:r>
              <a:rPr lang="en-US" sz="800" dirty="0">
                <a:solidFill>
                  <a:srgbClr val="888888"/>
                </a:solidFill>
                <a:latin typeface="Montserrat" pitchFamily="2" charset="0"/>
              </a:rPr>
              <a:t>без участия BI</a:t>
            </a:r>
          </a:p>
        </p:txBody>
      </p:sp>
      <p:sp>
        <p:nvSpPr>
          <p:cNvPr id="320" name="Arrow1"/>
          <p:cNvSpPr/>
          <p:nvPr/>
        </p:nvSpPr>
        <p:spPr>
          <a:xfrm>
            <a:off x="1694834" y="4318000"/>
            <a:ext cx="620776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ru-KZ" sz="2000"/>
          </a:p>
        </p:txBody>
      </p:sp>
      <p:sp>
        <p:nvSpPr>
          <p:cNvPr id="321" name="Arrow2"/>
          <p:cNvSpPr/>
          <p:nvPr/>
        </p:nvSpPr>
        <p:spPr>
          <a:xfrm>
            <a:off x="3256934" y="4318000"/>
            <a:ext cx="620776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 lang="ru-KZ" sz="200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7C1D73C-A257-359B-08EA-1BFD01FEC5CE}"/>
              </a:ext>
            </a:extLst>
          </p:cNvPr>
          <p:cNvGrpSpPr/>
          <p:nvPr/>
        </p:nvGrpSpPr>
        <p:grpSpPr>
          <a:xfrm>
            <a:off x="589934" y="1843052"/>
            <a:ext cx="4686300" cy="635000"/>
            <a:chOff x="664174" y="1674206"/>
            <a:chExt cx="4686300" cy="635000"/>
          </a:xfrm>
        </p:grpSpPr>
        <p:sp>
          <p:nvSpPr>
            <p:cNvPr id="330" name="KPIBox1"/>
            <p:cNvSpPr/>
            <p:nvPr/>
          </p:nvSpPr>
          <p:spPr>
            <a:xfrm>
              <a:off x="664174" y="1674206"/>
              <a:ext cx="1460500" cy="635000"/>
            </a:xfrm>
            <a:prstGeom prst="roundRect">
              <a:avLst>
                <a:gd name="adj" fmla="val 8000"/>
              </a:avLst>
            </a:prstGeom>
            <a:solidFill>
              <a:srgbClr val="E8F5E9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09845"/>
                  </a:solidFill>
                  <a:latin typeface="Montserrat" pitchFamily="2" charset="0"/>
                </a:rPr>
                <a:t>43</a:t>
              </a:r>
            </a:p>
            <a:p>
              <a:pPr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</a:rPr>
                <a:t>пользователя</a:t>
              </a:r>
            </a:p>
          </p:txBody>
        </p:sp>
        <p:sp>
          <p:nvSpPr>
            <p:cNvPr id="331" name="KPIBox2"/>
            <p:cNvSpPr/>
            <p:nvPr/>
          </p:nvSpPr>
          <p:spPr>
            <a:xfrm>
              <a:off x="2277074" y="1674206"/>
              <a:ext cx="1460500" cy="635000"/>
            </a:xfrm>
            <a:prstGeom prst="roundRect">
              <a:avLst>
                <a:gd name="adj" fmla="val 8000"/>
              </a:avLst>
            </a:prstGeom>
            <a:solidFill>
              <a:srgbClr val="E8F5E9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09845"/>
                  </a:solidFill>
                  <a:latin typeface="Montserrat" pitchFamily="2" charset="0"/>
                </a:rPr>
                <a:t>113</a:t>
              </a:r>
            </a:p>
            <a:p>
              <a:pPr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</a:rPr>
                <a:t>сессий</a:t>
              </a:r>
            </a:p>
          </p:txBody>
        </p:sp>
        <p:sp>
          <p:nvSpPr>
            <p:cNvPr id="332" name="KPIBox3"/>
            <p:cNvSpPr/>
            <p:nvPr/>
          </p:nvSpPr>
          <p:spPr>
            <a:xfrm>
              <a:off x="3889974" y="1674206"/>
              <a:ext cx="1460500" cy="635000"/>
            </a:xfrm>
            <a:prstGeom prst="roundRect">
              <a:avLst>
                <a:gd name="adj" fmla="val 8000"/>
              </a:avLst>
            </a:prstGeom>
            <a:solidFill>
              <a:srgbClr val="E8F5E9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09845"/>
                  </a:solidFill>
                  <a:latin typeface="Montserrat" pitchFamily="2" charset="0"/>
                </a:rPr>
                <a:t>~1 ч</a:t>
              </a:r>
            </a:p>
            <a:p>
              <a:pPr algn="ctr">
                <a:buNone/>
              </a:pPr>
              <a:r>
                <a:rPr lang="en-US" sz="800" dirty="0">
                  <a:solidFill>
                    <a:srgbClr val="555555"/>
                  </a:solidFill>
                  <a:latin typeface="Montserrat" pitchFamily="2" charset="0"/>
                </a:rPr>
                <a:t>ср. сессия</a:t>
              </a:r>
            </a:p>
          </p:txBody>
        </p:sp>
      </p:grpSp>
      <p:sp>
        <p:nvSpPr>
          <p:cNvPr id="333" name="KPISubtitle"/>
          <p:cNvSpPr/>
          <p:nvPr/>
        </p:nvSpPr>
        <p:spPr>
          <a:xfrm>
            <a:off x="589934" y="1435220"/>
            <a:ext cx="4699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1000" b="1" dirty="0">
                <a:solidFill>
                  <a:srgbClr val="009845"/>
                </a:solidFill>
                <a:latin typeface="Montserrat" pitchFamily="2" charset="0"/>
              </a:rPr>
              <a:t>СТАТИСТИКА ЗА ПОСЛЕДНИЕ 3 МЕСЯЦА</a:t>
            </a:r>
          </a:p>
        </p:txBody>
      </p:sp>
    </p:spTree>
    <p:extLst>
      <p:ext uri="{BB962C8B-B14F-4D97-AF65-F5344CB8AC3E}">
        <p14:creationId xmlns:p14="http://schemas.microsoft.com/office/powerpoint/2010/main" val="289700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333195"/>
            <a:ext cx="4972507" cy="2115007"/>
          </a:xfrm>
          <a:prstGeom prst="roundRect">
            <a:avLst>
              <a:gd name="adj" fmla="val 3116"/>
            </a:avLst>
          </a:prstGeom>
          <a:solidFill>
            <a:srgbClr val="FFFFFF">
              <a:alpha val="0"/>
            </a:srgb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667805" y="1333195"/>
            <a:ext cx="4953305" cy="2115007"/>
          </a:xfrm>
          <a:prstGeom prst="roundRect">
            <a:avLst>
              <a:gd name="adj" fmla="val 3173"/>
            </a:avLst>
          </a:prstGeom>
          <a:solidFill>
            <a:srgbClr val="F0FAF5">
              <a:alpha val="798"/>
            </a:srgb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2" b="-22"/>
          <a:stretch/>
        </p:blipFill>
        <p:spPr>
          <a:xfrm>
            <a:off x="571500" y="4667098"/>
            <a:ext cx="2638044" cy="15435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t="-22" b="-22"/>
          <a:stretch/>
        </p:blipFill>
        <p:spPr>
          <a:xfrm>
            <a:off x="3381451" y="4667098"/>
            <a:ext cx="2638044" cy="154350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t="-22" b="-22"/>
          <a:stretch/>
        </p:blipFill>
        <p:spPr>
          <a:xfrm>
            <a:off x="6191402" y="4667098"/>
            <a:ext cx="2638044" cy="154350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22" b="-22"/>
          <a:stretch/>
        </p:blipFill>
        <p:spPr>
          <a:xfrm>
            <a:off x="9001354" y="4667098"/>
            <a:ext cx="2638044" cy="154350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6"/>
          <a:srcRect l="-390" r="-390"/>
          <a:stretch/>
        </p:blipFill>
        <p:spPr>
          <a:xfrm>
            <a:off x="9001354" y="4667098"/>
            <a:ext cx="38405" cy="1524305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5928970" y="2133295"/>
            <a:ext cx="333756" cy="381305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571500" y="523951"/>
            <a:ext cx="111639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Стратегия оптимизации затрат на 2027-2030 год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6" name="Text 6"/>
          <p:cNvSpPr txBox="1"/>
          <p:nvPr/>
        </p:nvSpPr>
        <p:spPr>
          <a:xfrm>
            <a:off x="571500" y="952805"/>
            <a:ext cx="11163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Сравнительный анализ сценариев и план реализации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7" name="Text 7"/>
          <p:cNvSpPr txBox="1"/>
          <p:nvPr/>
        </p:nvSpPr>
        <p:spPr>
          <a:xfrm>
            <a:off x="705002" y="1476756"/>
            <a:ext cx="4686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ТРАДИЦИОННЫЙ СЦЕНАРИЙ (2027–2030)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Text 8"/>
          <p:cNvSpPr txBox="1"/>
          <p:nvPr/>
        </p:nvSpPr>
        <p:spPr>
          <a:xfrm>
            <a:off x="666598" y="1714500"/>
            <a:ext cx="4763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618 </a:t>
            </a:r>
            <a:r>
              <a:rPr lang="en-US" sz="24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млн ₸</a:t>
            </a:r>
            <a:endParaRPr lang="en-US" sz="5400" dirty="0">
              <a:latin typeface="Montserrat" pitchFamily="2" charset="0"/>
            </a:endParaRPr>
          </a:p>
        </p:txBody>
      </p:sp>
      <p:sp>
        <p:nvSpPr>
          <p:cNvPr id="19" name="Text 9"/>
          <p:cNvSpPr txBox="1"/>
          <p:nvPr/>
        </p:nvSpPr>
        <p:spPr>
          <a:xfrm>
            <a:off x="705002" y="2619756"/>
            <a:ext cx="4686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Плановый бюджет на продление всех именных лицензий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524305" y="2915107"/>
            <a:ext cx="133502" cy="15270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809598" y="2885846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300 Professional </a:t>
            </a:r>
            <a:r>
              <a:rPr lang="en-US" sz="10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~66 млн ₸</a:t>
            </a:r>
            <a:endParaRPr lang="en-US" sz="1000" dirty="0">
              <a:latin typeface="Montserrat" pitchFamily="2" charset="0"/>
            </a:endParaRPr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524305" y="3152851"/>
            <a:ext cx="133502" cy="152705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809598" y="3124505"/>
            <a:ext cx="2971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1062 Analyzer </a:t>
            </a:r>
            <a:r>
              <a:rPr lang="en-US" sz="10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~140 млн 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4" name="Text 12"/>
          <p:cNvSpPr txBox="1"/>
          <p:nvPr/>
        </p:nvSpPr>
        <p:spPr>
          <a:xfrm>
            <a:off x="5581498" y="2572207"/>
            <a:ext cx="10287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Оптимизация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5" name="Text 13"/>
          <p:cNvSpPr txBox="1"/>
          <p:nvPr/>
        </p:nvSpPr>
        <p:spPr>
          <a:xfrm>
            <a:off x="6801307" y="1476756"/>
            <a:ext cx="4686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ГИБРИДНЫЙ СЦЕНАРИЙ (2027–2030)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6" name="Text 14"/>
          <p:cNvSpPr txBox="1"/>
          <p:nvPr/>
        </p:nvSpPr>
        <p:spPr>
          <a:xfrm>
            <a:off x="6762902" y="1714500"/>
            <a:ext cx="4763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579 </a:t>
            </a:r>
            <a:r>
              <a:rPr lang="en-US" sz="24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млн ₸</a:t>
            </a:r>
            <a:endParaRPr lang="en-US" sz="5400" dirty="0">
              <a:latin typeface="Montserrat" pitchFamily="2" charset="0"/>
            </a:endParaRPr>
          </a:p>
        </p:txBody>
      </p:sp>
      <p:sp>
        <p:nvSpPr>
          <p:cNvPr id="27" name="Text 15"/>
          <p:cNvSpPr txBox="1"/>
          <p:nvPr/>
        </p:nvSpPr>
        <p:spPr>
          <a:xfrm>
            <a:off x="6801307" y="2619756"/>
            <a:ext cx="4686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 поэтапным переводом Analyzer на Capacity Licensing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6858000" y="2905049"/>
            <a:ext cx="22887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300 Professional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66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6858000" y="3133649"/>
            <a:ext cx="23911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Analyzer (сокращ.)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~216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9235440" y="2905049"/>
            <a:ext cx="23170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Capacity (рост)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~144.8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1" name="Text 19"/>
          <p:cNvSpPr txBox="1"/>
          <p:nvPr/>
        </p:nvSpPr>
        <p:spPr>
          <a:xfrm>
            <a:off x="9235440" y="3133649"/>
            <a:ext cx="22887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Обучение — </a:t>
            </a:r>
            <a:r>
              <a:rPr lang="en-US" sz="900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~6.6 млн 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714146" y="4809744"/>
            <a:ext cx="24277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Год 1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6" name="Text 24"/>
          <p:cNvSpPr txBox="1"/>
          <p:nvPr/>
        </p:nvSpPr>
        <p:spPr>
          <a:xfrm>
            <a:off x="714146" y="51343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230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чел на Capacity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7" name="Text 25"/>
          <p:cNvSpPr txBox="1"/>
          <p:nvPr/>
        </p:nvSpPr>
        <p:spPr>
          <a:xfrm>
            <a:off x="714146" y="53629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568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на именных Analyzer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714146" y="5648249"/>
            <a:ext cx="2333549" cy="9144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14146" y="5772607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~</a:t>
            </a:r>
            <a:r>
              <a:rPr lang="ru-RU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23</a:t>
            </a: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.</a:t>
            </a:r>
            <a:r>
              <a:rPr lang="ru-RU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5</a:t>
            </a: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3524098" y="4809744"/>
            <a:ext cx="24277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Год 2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1" name="Text 28"/>
          <p:cNvSpPr txBox="1"/>
          <p:nvPr/>
        </p:nvSpPr>
        <p:spPr>
          <a:xfrm>
            <a:off x="3524098" y="51343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4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80 чел на Capacity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Text 29"/>
          <p:cNvSpPr txBox="1"/>
          <p:nvPr/>
        </p:nvSpPr>
        <p:spPr>
          <a:xfrm>
            <a:off x="3524098" y="53629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3</a:t>
            </a:r>
            <a:r>
              <a:rPr lang="ru-RU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18</a:t>
            </a: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на именных Analyzer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3524098" y="5648249"/>
            <a:ext cx="2333549" cy="9144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3524098" y="5772607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~</a:t>
            </a:r>
            <a:r>
              <a:rPr lang="ru-RU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30</a:t>
            </a: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5" name="Text 31"/>
          <p:cNvSpPr txBox="1"/>
          <p:nvPr/>
        </p:nvSpPr>
        <p:spPr>
          <a:xfrm>
            <a:off x="6334049" y="4809744"/>
            <a:ext cx="24277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Год 3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6" name="Text 32"/>
          <p:cNvSpPr txBox="1"/>
          <p:nvPr/>
        </p:nvSpPr>
        <p:spPr>
          <a:xfrm>
            <a:off x="6334049" y="51343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720 чел на Capacity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7" name="Text 33"/>
          <p:cNvSpPr txBox="1"/>
          <p:nvPr/>
        </p:nvSpPr>
        <p:spPr>
          <a:xfrm>
            <a:off x="6334049" y="5362956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→ 120 на именных Analyzer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6334049" y="5648249"/>
            <a:ext cx="2333549" cy="9144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334049" y="5772607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Экономия: ~99.3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50" name="Text 35"/>
          <p:cNvSpPr txBox="1"/>
          <p:nvPr/>
        </p:nvSpPr>
        <p:spPr>
          <a:xfrm>
            <a:off x="9144000" y="4809744"/>
            <a:ext cx="2410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Расходы на обучение и разработку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51" name="Text 36"/>
          <p:cNvSpPr txBox="1"/>
          <p:nvPr/>
        </p:nvSpPr>
        <p:spPr>
          <a:xfrm>
            <a:off x="9144000" y="5266944"/>
            <a:ext cx="2427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Обучение: ~6.6 млн ₸ за 3 года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9144000" y="5495544"/>
            <a:ext cx="24716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Разработка: ~2.25 млн ₸ (разово)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0"/>
          <a:srcRect l="-2083" r="-2083"/>
          <a:stretch/>
        </p:blipFill>
        <p:spPr>
          <a:xfrm>
            <a:off x="9144000" y="5781751"/>
            <a:ext cx="2333549" cy="9144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9144000" y="5905195"/>
            <a:ext cx="24277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Итого: ~6.6 млн 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55" name="Text 39"/>
          <p:cNvSpPr txBox="1"/>
          <p:nvPr/>
        </p:nvSpPr>
        <p:spPr>
          <a:xfrm>
            <a:off x="514807" y="6334050"/>
            <a:ext cx="3863555" cy="8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Предварительный расчёт — уточняется </a:t>
            </a:r>
            <a:r>
              <a:rPr lang="en-US" sz="900" i="1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</a:t>
            </a: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900" i="1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итогам</a:t>
            </a: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пилота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6" name="Text 40"/>
          <p:cNvSpPr txBox="1"/>
          <p:nvPr/>
        </p:nvSpPr>
        <p:spPr>
          <a:xfrm>
            <a:off x="571500" y="6572707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7" name="Text 41"/>
          <p:cNvSpPr txBox="1"/>
          <p:nvPr/>
        </p:nvSpPr>
        <p:spPr>
          <a:xfrm>
            <a:off x="9639605" y="6572707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4F59E461-4DDB-ECBE-7A19-C85AE1A4D518}"/>
              </a:ext>
            </a:extLst>
          </p:cNvPr>
          <p:cNvGrpSpPr/>
          <p:nvPr/>
        </p:nvGrpSpPr>
        <p:grpSpPr>
          <a:xfrm>
            <a:off x="584167" y="3938321"/>
            <a:ext cx="4209899" cy="521207"/>
            <a:chOff x="571499" y="3871569"/>
            <a:chExt cx="4209899" cy="521207"/>
          </a:xfrm>
        </p:grpSpPr>
        <p:sp>
          <p:nvSpPr>
            <p:cNvPr id="34" name="Text 22"/>
            <p:cNvSpPr txBox="1"/>
            <p:nvPr/>
          </p:nvSpPr>
          <p:spPr>
            <a:xfrm>
              <a:off x="571499" y="4228643"/>
              <a:ext cx="3503739" cy="164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i="1" dirty="0">
                  <a:solidFill>
                    <a:srgbClr val="888888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С учётом всех расходов на обучение и разработку</a:t>
              </a:r>
              <a:endParaRPr lang="en-US" sz="800" dirty="0">
                <a:latin typeface="Montserrat" pitchFamily="2" charset="0"/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33BA739F-8988-7882-DD24-0C8CFC6A51AE}"/>
                </a:ext>
              </a:extLst>
            </p:cNvPr>
            <p:cNvSpPr txBox="1"/>
            <p:nvPr/>
          </p:nvSpPr>
          <p:spPr>
            <a:xfrm>
              <a:off x="571500" y="3871569"/>
              <a:ext cx="4209898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ru-RU" sz="2000" b="1" kern="0" spc="-37" dirty="0">
                  <a:solidFill>
                    <a:srgbClr val="000000"/>
                  </a:solidFill>
                  <a:latin typeface="Montserrat" pitchFamily="2" charset="0"/>
                </a:rPr>
                <a:t>Экономия за 3 года: </a:t>
              </a:r>
              <a:r>
                <a:rPr lang="en-US" sz="2000" b="1" dirty="0">
                  <a:solidFill>
                    <a:srgbClr val="1A7A3A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191 </a:t>
              </a:r>
              <a:r>
                <a:rPr lang="en-US" sz="2000" b="1" dirty="0" err="1">
                  <a:solidFill>
                    <a:srgbClr val="1A7A3A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млн</a:t>
              </a:r>
              <a:r>
                <a:rPr lang="en-US" sz="2000" b="1" dirty="0">
                  <a:solidFill>
                    <a:srgbClr val="1A7A3A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 ₸</a:t>
              </a:r>
              <a:r>
                <a:rPr lang="ru-RU" sz="2000" b="1" kern="0" spc="-37" dirty="0">
                  <a:solidFill>
                    <a:srgbClr val="000000"/>
                  </a:solidFill>
                  <a:latin typeface="Montserrat" pitchFamily="2" charset="0"/>
                </a:rPr>
                <a:t> </a:t>
              </a:r>
              <a:endParaRPr lang="en-US" sz="2000" dirty="0">
                <a:latin typeface="Montserrat" pitchFamily="2" charset="0"/>
              </a:endParaRPr>
            </a:p>
          </p:txBody>
        </p:sp>
      </p:grpSp>
      <p:pic>
        <p:nvPicPr>
          <p:cNvPr id="61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314D2C80-5F14-2C5D-AE7F-9DE47067D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">
            <a:extLst>
              <a:ext uri="{FF2B5EF4-FFF2-40B4-BE49-F238E27FC236}">
                <a16:creationId xmlns:a16="http://schemas.microsoft.com/office/drawing/2014/main" id="{98A28DB1-FEA2-EE60-28BD-74E9FDDD43D9}"/>
              </a:ext>
            </a:extLst>
          </p:cNvPr>
          <p:cNvSpPr/>
          <p:nvPr/>
        </p:nvSpPr>
        <p:spPr>
          <a:xfrm>
            <a:off x="473389" y="1542594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A5BAECE-125D-ED3D-C476-C22AD40E5577}"/>
              </a:ext>
            </a:extLst>
          </p:cNvPr>
          <p:cNvSpPr/>
          <p:nvPr/>
        </p:nvSpPr>
        <p:spPr>
          <a:xfrm>
            <a:off x="6242689" y="1552652"/>
            <a:ext cx="5537446" cy="4543653"/>
          </a:xfrm>
          <a:prstGeom prst="roundRect">
            <a:avLst>
              <a:gd name="adj" fmla="val 3390"/>
            </a:avLst>
          </a:prstGeom>
          <a:solidFill>
            <a:srgbClr val="F9F9F9">
              <a:alpha val="2757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" y="523951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Корпоративное обучение Qlik Sense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71500" y="1000354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Инвестиции в обучение и ожидаемый результат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57707" y="2095805"/>
            <a:ext cx="487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Вкладываем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57707" y="2572207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Время: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47902" y="2876702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Разработка материалов и платформы: 2 месяца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047902" y="3095244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 поток обучения: 2 недели (6 занятий × 1.5 часа)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047902" y="3314700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 потока в месяц по 10 человек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57707" y="3666744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Стоимость: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047902" y="3972154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Разработка материалов: ~2.25 млн ₸ (разово)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047902" y="4190695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Проведение обучения: ~1.45 млн ₸/год (внутренние ресурсы)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047902" y="4410151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Рассматриваются альтернативы: внешние школы обучения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857707" y="4714646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Формат: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047902" y="5020056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2 потока: аналитики и разработчики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047902" y="5238598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Домашние задания + тестирование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047902" y="5458054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Сертификация по итогам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572707" y="2095805"/>
            <a:ext cx="487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Получаем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6476695" y="2476195"/>
            <a:ext cx="4953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240</a:t>
            </a:r>
            <a:endParaRPr lang="en-US" sz="5400" dirty="0">
              <a:latin typeface="Montserrat" pitchFamily="2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6515100" y="3209544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сертифицированных сотрудников в год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6762902" y="3762756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Пользователи эффективно используют Qlik и SSBI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6762902" y="4019702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Готовы к переводу на Capacity Licensing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6762902" y="4276649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Экономия от перевода: ~33 млн ₸ в первый год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6762902" y="4533595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Снижение нагрузки на серверы за счёт грамотного использования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6762902" y="5048402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Качественная аналитика вместо хаотичного потребления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473389" y="6257240"/>
            <a:ext cx="11163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Старт — </a:t>
            </a:r>
            <a:r>
              <a:rPr lang="en-US" sz="900" i="1" dirty="0" err="1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только</a:t>
            </a:r>
            <a:r>
              <a:rPr lang="en-US" sz="9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 новые пользователи (250 чел). Текущие пользователи не затрагиваются.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571500" y="6572707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9639605" y="6572707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36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081C2C84-C766-7B35-B3DA-DD74F972B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14500"/>
            <a:ext cx="3448202" cy="3897174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381805" y="1714499"/>
            <a:ext cx="3448202" cy="3897173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191195" y="1714500"/>
            <a:ext cx="3448202" cy="3897172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571500" y="523951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7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Стратегия развития Qlik Sense в Halyk Bank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571500" y="952805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Ключевые направления и ожидаемые результаты</a:t>
            </a:r>
            <a:endParaRPr lang="en-US" sz="1200" dirty="0">
              <a:latin typeface="Montserrat" pitchFamily="2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742950" y="2385212"/>
            <a:ext cx="304495" cy="2670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2542" y="2247595"/>
            <a:ext cx="26481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Гибридное лицензирование</a:t>
            </a:r>
            <a:endParaRPr lang="en-US" sz="1300" dirty="0">
              <a:latin typeface="Montserrat" pitchFamily="2" charset="0"/>
            </a:endParaRP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979A4D5-CFA5-FA02-52B7-7057977D9FD6}"/>
              </a:ext>
            </a:extLst>
          </p:cNvPr>
          <p:cNvGrpSpPr/>
          <p:nvPr/>
        </p:nvGrpSpPr>
        <p:grpSpPr>
          <a:xfrm>
            <a:off x="1161744" y="3138907"/>
            <a:ext cx="3029407" cy="800100"/>
            <a:chOff x="827531" y="2633930"/>
            <a:chExt cx="3029407" cy="800100"/>
          </a:xfrm>
        </p:grpSpPr>
        <p:sp>
          <p:nvSpPr>
            <p:cNvPr id="15" name="Text 9"/>
            <p:cNvSpPr txBox="1"/>
            <p:nvPr/>
          </p:nvSpPr>
          <p:spPr>
            <a:xfrm>
              <a:off x="827531" y="2633930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Именные лицензии для активных пользователей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16" name="Text 10"/>
            <p:cNvSpPr txBox="1"/>
            <p:nvPr/>
          </p:nvSpPr>
          <p:spPr>
            <a:xfrm>
              <a:off x="827531" y="3071928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Capacity Licensing для нерегулярных пользователей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53255" y="2385212"/>
            <a:ext cx="333756" cy="2670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982108" y="2361438"/>
            <a:ext cx="26755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Корпоративное обучение</a:t>
            </a:r>
            <a:endParaRPr lang="en-US" sz="1300" dirty="0">
              <a:latin typeface="Montserrat" pitchFamily="2" charset="0"/>
            </a:endParaRP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82D2FC5F-70E2-E8C2-BA2A-EB1FAF708E13}"/>
              </a:ext>
            </a:extLst>
          </p:cNvPr>
          <p:cNvGrpSpPr/>
          <p:nvPr/>
        </p:nvGrpSpPr>
        <p:grpSpPr>
          <a:xfrm>
            <a:off x="4982108" y="3138907"/>
            <a:ext cx="3067812" cy="876910"/>
            <a:chOff x="4634179" y="2618841"/>
            <a:chExt cx="3067812" cy="876910"/>
          </a:xfrm>
        </p:grpSpPr>
        <p:sp>
          <p:nvSpPr>
            <p:cNvPr id="20" name="Text 13"/>
            <p:cNvSpPr txBox="1"/>
            <p:nvPr/>
          </p:nvSpPr>
          <p:spPr>
            <a:xfrm>
              <a:off x="4634179" y="2618841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240 сотрудников</a:t>
              </a: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в год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4634179" y="2876702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Повышение качества Self-Service BI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2" name="Text 15"/>
            <p:cNvSpPr txBox="1"/>
            <p:nvPr/>
          </p:nvSpPr>
          <p:spPr>
            <a:xfrm>
              <a:off x="4634179" y="3133649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Мягкое внедрение: </a:t>
              </a:r>
              <a:r>
                <a:rPr lang="en-US" sz="1000" dirty="0" err="1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только</a:t>
              </a: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 новые пользователи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63560" y="2385212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792413" y="2361438"/>
            <a:ext cx="26755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Оптимизация архитектуры</a:t>
            </a:r>
            <a:endParaRPr lang="en-US" sz="1300" dirty="0">
              <a:latin typeface="Montserrat" pitchFamily="2" charset="0"/>
            </a:endParaRP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50DCA562-B799-43CB-3A7C-54D728F2C27D}"/>
              </a:ext>
            </a:extLst>
          </p:cNvPr>
          <p:cNvGrpSpPr/>
          <p:nvPr/>
        </p:nvGrpSpPr>
        <p:grpSpPr>
          <a:xfrm>
            <a:off x="8764067" y="3176397"/>
            <a:ext cx="2703880" cy="876910"/>
            <a:chOff x="8429854" y="2618841"/>
            <a:chExt cx="3067812" cy="876910"/>
          </a:xfrm>
        </p:grpSpPr>
        <p:sp>
          <p:nvSpPr>
            <p:cNvPr id="25" name="Text 17"/>
            <p:cNvSpPr txBox="1"/>
            <p:nvPr/>
          </p:nvSpPr>
          <p:spPr>
            <a:xfrm>
              <a:off x="8429854" y="2618841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Эффективные QVD/QVF файлы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6" name="Text 18"/>
            <p:cNvSpPr txBox="1"/>
            <p:nvPr/>
          </p:nvSpPr>
          <p:spPr>
            <a:xfrm>
              <a:off x="8429854" y="2876702"/>
              <a:ext cx="3067812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Мониторинг и контроль нагрузки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27" name="Text 19"/>
            <p:cNvSpPr txBox="1"/>
            <p:nvPr/>
          </p:nvSpPr>
          <p:spPr>
            <a:xfrm>
              <a:off x="8429854" y="3133649"/>
              <a:ext cx="3029407" cy="362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Montserrat" pitchFamily="2" charset="0"/>
                  <a:ea typeface="Open Sans" pitchFamily="34" charset="-122"/>
                  <a:cs typeface="Open Sans" pitchFamily="34" charset="-120"/>
                </a:rPr>
                <a:t>Инфраструктура мониторинга уже реализована</a:t>
              </a:r>
              <a:endParaRPr lang="en-US" sz="1000" dirty="0">
                <a:latin typeface="Montserrat" pitchFamily="2" charset="0"/>
              </a:endParaRPr>
            </a:p>
          </p:txBody>
        </p:sp>
      </p:grpSp>
      <p:sp>
        <p:nvSpPr>
          <p:cNvPr id="34" name="Text 26"/>
          <p:cNvSpPr txBox="1"/>
          <p:nvPr/>
        </p:nvSpPr>
        <p:spPr>
          <a:xfrm>
            <a:off x="599846" y="6010809"/>
            <a:ext cx="11163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Предварительные расчёты — уточняются по итогам пилота Capacity (2–3 месяца)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571500" y="6572707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2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9639605" y="6572707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7A3A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Qlik Sense Review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41" name="Picture 2" descr="JSC Halyk Bank logo in transparent PNG and vectorized SVG formats">
            <a:extLst>
              <a:ext uri="{FF2B5EF4-FFF2-40B4-BE49-F238E27FC236}">
                <a16:creationId xmlns:a16="http://schemas.microsoft.com/office/drawing/2014/main" id="{13890AF0-80B5-52C4-50F7-AFF70902F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78" y="585570"/>
            <a:ext cx="1476454" cy="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203B07-04A3-244F-939A-5843E058920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879c884-4163-4311-9641-20b7d19d9bb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2921</TotalTime>
  <Words>1612</Words>
  <Application>Microsoft Macintosh PowerPoint</Application>
  <PresentationFormat>Широкоэкранный</PresentationFormat>
  <Paragraphs>399</Paragraphs>
  <Slides>14</Slides>
  <Notes>14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Montserrat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zhumabay azamatov</cp:lastModifiedBy>
  <cp:revision>42</cp:revision>
  <dcterms:created xsi:type="dcterms:W3CDTF">2026-03-30T09:56:59Z</dcterms:created>
  <dcterms:modified xsi:type="dcterms:W3CDTF">2026-04-13T16:22:20Z</dcterms:modified>
</cp:coreProperties>
</file>